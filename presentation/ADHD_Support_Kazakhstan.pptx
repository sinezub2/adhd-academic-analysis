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ADHD</c:v>
                </c:pt>
              </c:strCache>
            </c:strRef>
          </c:tx>
          <c:spPr>
            <a:solidFill>
              <a:srgbClr val="6058E8"/>
            </a:solidFill>
            <a:ln>
              <a:noFill/>
            </a:ln>
          </c:spPr>
          <c:cat>
            <c:strRef>
              <c:f>Sheet1!$A$2:$A$3</c:f>
              <c:strCache>
                <c:ptCount val="2"/>
                <c:pt idx="0">
                  <c:v>Fall</c:v>
                </c:pt>
                <c:pt idx="1">
                  <c:v>Spring</c:v>
                </c:pt>
              </c:strCache>
            </c:strRef>
          </c:cat>
          <c:val>
            <c:numRef>
              <c:f>Sheet1!$B$2:$B$3</c:f>
              <c:numCache>
                <c:formatCode>General</c:formatCode>
                <c:ptCount val="2"/>
                <c:pt idx="0">
                  <c:v>2.91</c:v>
                </c:pt>
                <c:pt idx="1">
                  <c:v>2.79</c:v>
                </c:pt>
              </c:numCache>
            </c:numRef>
          </c:val>
        </c:ser>
        <c:ser>
          <c:idx val="1"/>
          <c:order val="1"/>
          <c:tx>
            <c:strRef>
              <c:f>Sheet1!$C$1</c:f>
              <c:strCache>
                <c:ptCount val="1"/>
                <c:pt idx="0">
                  <c:v>Comparison</c:v>
                </c:pt>
              </c:strCache>
            </c:strRef>
          </c:tx>
          <c:spPr>
            <a:solidFill>
              <a:srgbClr val="B7BECA"/>
            </a:solidFill>
            <a:ln>
              <a:noFill/>
            </a:ln>
          </c:spPr>
          <c:cat>
            <c:strRef>
              <c:f>Sheet1!$A$2:$A$3</c:f>
              <c:strCache>
                <c:ptCount val="2"/>
                <c:pt idx="0">
                  <c:v>Fall</c:v>
                </c:pt>
                <c:pt idx="1">
                  <c:v>Spring</c:v>
                </c:pt>
              </c:strCache>
            </c:strRef>
          </c:cat>
          <c:val>
            <c:numRef>
              <c:f>Sheet1!$C$2:$C$3</c:f>
              <c:numCache>
                <c:formatCode>General</c:formatCode>
                <c:ptCount val="2"/>
                <c:pt idx="0">
                  <c:v>3.26</c:v>
                </c:pt>
                <c:pt idx="1">
                  <c:v>3.13</c:v>
                </c:pt>
              </c:numCache>
            </c:numRef>
          </c:val>
        </c:ser>
        <c:dLbls>
          <c:numFmt formatCode="0.00" sourceLinked="0"/>
          <c:txPr>
            <a:bodyPr/>
            <a:lstStyle/>
            <a:p>
              <a:pPr>
                <a:defRPr sz="2000" b="1">
                  <a:solidFill>
                    <a:srgbClr val="18212F"/>
                  </a:solidFill>
                  <a:latin typeface="Inter"/>
                </a:defRPr>
              </a:pPr>
            </a:p>
          </c:txPr>
          <c:dLblPos val="outEnd"/>
          <c:showLegendKey val="0"/>
          <c:showVal val="1"/>
          <c:showCatName val="0"/>
          <c:showSerName val="0"/>
          <c:showPercent val="0"/>
          <c:showBubbleSize val="0"/>
          <c:showLeaderLines val="1"/>
        </c:dLbls>
        <c:gapWidth val="80"/>
        <c:axId val="-2068027336"/>
        <c:axId val="-2113994440"/>
      </c:barChart>
      <c:catAx>
        <c:axId val="-2068027336"/>
        <c:scaling>
          <c:orientation val="minMax"/>
        </c:scaling>
        <c:delete val="0"/>
        <c:axPos val="b"/>
        <c:majorTickMark val="none"/>
        <c:minorTickMark val="none"/>
        <c:tickLblPos val="nextTo"/>
        <c:spPr>
          <a:ln>
            <a:noFill/>
          </a:ln>
        </c:spPr>
        <c:txPr>
          <a:bodyPr/>
          <a:lstStyle/>
          <a:p>
            <a:pPr>
              <a:defRPr sz="1900">
                <a:latin typeface="Inter"/>
              </a:defRPr>
            </a:pPr>
          </a:p>
        </c:txPr>
        <c:crossAx val="-2113994440"/>
        <c:crosses val="autoZero"/>
        <c:auto val="1"/>
        <c:lblAlgn val="ctr"/>
        <c:lblOffset val="100"/>
        <c:noMultiLvlLbl val="0"/>
      </c:catAx>
      <c:valAx>
        <c:axId val="-2113994440"/>
        <c:scaling>
          <c:max val="4.0"/>
          <c:min val="0.0"/>
        </c:scaling>
        <c:delete val="0"/>
        <c:axPos val="l"/>
        <c:majorGridlines>
          <c:spPr>
            <a:ln w="7620">
              <a:solidFill>
                <a:srgbClr val="E6E8EE"/>
              </a:solidFill>
            </a:ln>
          </c:spPr>
        </c:majorGridlines>
        <c:title>
          <c:tx>
            <c:rich>
              <a:bodyPr/>
              <a:lstStyle/>
              <a:p>
                <a:pPr>
                  <a:defRPr sz="1600">
                    <a:latin typeface="Inter"/>
                  </a:defRPr>
                </a:pPr>
                <a:r>
                  <a:t>Mean GPA</a:t>
                </a:r>
              </a:p>
            </c:rich>
          </c:tx>
          <c:layout/>
          <c:overlay val="0"/>
        </c:title>
        <c:majorTickMark val="none"/>
        <c:minorTickMark val="none"/>
        <c:tickLblPos val="nextTo"/>
        <c:spPr>
          <a:ln>
            <a:noFill/>
          </a:ln>
        </c:spPr>
        <c:txPr>
          <a:bodyPr/>
          <a:lstStyle/>
          <a:p>
            <a:pPr>
              <a:defRPr sz="1600">
                <a:solidFill>
                  <a:srgbClr val="596373"/>
                </a:solidFill>
                <a:latin typeface="Inter"/>
              </a:defRPr>
            </a:pPr>
          </a:p>
        </c:txPr>
        <c:crossAx val="-2068027336"/>
        <c:crosses val="autoZero"/>
        <c:majorUnit val="1.0"/>
      </c:valAx>
    </c:plotArea>
    <c:legend>
      <c:legendPos val="t"/>
      <c:overlay val="0"/>
      <c:txPr>
        <a:bodyPr/>
        <a:lstStyle/>
        <a:p>
          <a:pPr>
            <a:defRPr sz="1800">
              <a:latin typeface="Inter"/>
            </a:defRPr>
          </a:pPr>
        </a:p>
      </c:txPr>
    </c:legend>
    <c:dispBlanksAs val="gap"/>
  </c:chart>
  <c:txPr>
    <a:bodyPr/>
    <a:lstStyle/>
    <a:p>
      <a:pPr>
        <a:defRPr sz="1800">
          <a:latin typeface="Inter"/>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~25 seconds</a:t>
            </a:r>
          </a:p>
          <a:p/>
          <a:p>
            <a:r>
              <a:t>SPOKEN SCRIPT</a:t>
            </a:r>
          </a:p>
          <a:p>
            <a:r>
              <a:t>Our proposal examines ADHD-specific academic support for university students in Kazakhstan. The question is whether available support matches students’ everyday learning needs. We will establish why this matters, then consider two possible responses: executive-function coaching and an integrated support system. We are not choosing between them today.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~70 seconds</a:t>
            </a:r>
          </a:p>
          <a:p/>
          <a:p>
            <a:r>
              <a:t>SPOKEN SCRIPT</a:t>
            </a:r>
          </a:p>
          <a:p>
            <a:r>
              <a:t>University study asks students to manage their own learning: plan ahead, sustain attention, organize materials, monitor progress, and coordinate several deadlines. For a student with ADHD, those demands can interact with difficulties in attention and executive functioning. A student may understand the material yet struggle to turn that understanding into timely, organized work.</a:t>
            </a:r>
          </a:p>
          <a:p/>
          <a:p>
            <a:r>
              <a:t>The reviews by Álvarez-Godos and colleagues and Ross and colleagues support considering tailored approaches, while also showing limitations in the intervention evidence. For Kazakhstan, our working proposition is that specialized, evidence-based ADHD support appears limited and under-researched. We are not claiming that universities have no support at all. Nazarbayev University, for example, documents disability and special learning-needs services.</a:t>
            </a:r>
          </a:p>
          <a:p/>
          <a:p>
            <a:r>
              <a:t>The unresolved local question is how consistently students can access support designed around ADHD, and whether it is evaluated. This is a proposition to investigate, not a completed national audit. Why should university decision makers take that question seriously?</a:t>
            </a:r>
          </a:p>
          <a:p/>
          <a:p>
            <a:r>
              <a:t>EVIDENCE / PRESENTER CHECK (not part of spoken timing)</a:t>
            </a:r>
          </a:p>
          <a:p>
            <a:r>
              <a:t>The local gap is a working proposition, not an established national prevalence or service audit. NU provides a documented counterexample to any claim of no support. International reviews do not establish Kazakhstan-wide availability. Sources: https://doi.org/10.3389/fpsyg.2023.1216692 ; https://doi.org/10.1038/s44184-026-00196-4 ; https://nu.edu.kz/students/disability-and-special-learning-needs-support/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~75 seconds</a:t>
            </a:r>
          </a:p>
          <a:p/>
          <a:p>
            <a:r>
              <a:t>SPOKEN SCRIPT</a:t>
            </a:r>
          </a:p>
          <a:p>
            <a:r>
              <a:t>This chart uses published means from Gormley and colleagues’ study of first-year students at universities in the United States. The purple bars represent students with ADHD; the gray bars represent the comparison group. In the fall, average GPA was 2.91 compared with 3.26. In the spring, it was 2.79 compared with 3.13. The gap was therefore about one-third of a GPA point in each semester.</a:t>
            </a:r>
          </a:p>
          <a:p/>
          <a:p>
            <a:r>
              <a:t>The chart starts at zero to keep the difference in proportion. These are group averages: they do not mean that every student with ADHD performs worse. The comparison is observational, so it cannot establish that ADHD alone caused the gap, and it does not estimate the situation in Kazakhstan.</a:t>
            </a:r>
          </a:p>
          <a:p/>
          <a:p>
            <a:r>
              <a:t>It also does not show that receiving any generic service improves GPA. The study did not find an independent relationship between typical service use and GPA. The implication is to investigate which forms of support address specific needs.</a:t>
            </a:r>
          </a:p>
          <a:p/>
          <a:p>
            <a:r>
              <a:t>EVIDENCE / PRESENTER CHECK (not part of spoken timing)</a:t>
            </a:r>
          </a:p>
          <a:p>
            <a:r>
              <a:t>Table 2: Fall ADHD M=2.91, SD=.77; comparison M=3.26, SD=.69; reported d=-.48. Spring ADHD M=2.79, SD=.84; comparison M=3.13, SD=.82; reported d=-.41. Bars are published descriptive means, not adjusted predictions or a support comparison. No error bars are invented. Differences .35 and .34 are simple subtraction of those means. https://doi.org/10.1177/1087054715623046 ; https://pmc.ncbi.nlm.nih.gov/articles/PMC6209537/</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~80 seconds</a:t>
            </a:r>
          </a:p>
          <a:p/>
          <a:p>
            <a:r>
              <a:t>SPOKEN SCRIPT</a:t>
            </a:r>
          </a:p>
          <a:p>
            <a:r>
              <a:t>The first possible solution is ADHD-specific executive-function coaching. A proposed weekly routine would help students plan priorities, break assignments into manageable tasks, estimate time, agree on concrete actions, and review what happened. The goal is to help students use strategies consistently in their own courses, rather than simply give them more subject teaching.</a:t>
            </a:r>
          </a:p>
          <a:p/>
          <a:p>
            <a:r>
              <a:t>There are two relevant kinds of evidence. DuPaul and colleagues followed service use at a specialist campus over five years; coaching use was associated with academic gains. Because students selected services, this is not a randomized test of coaching.</a:t>
            </a:r>
          </a:p>
          <a:p/>
          <a:p>
            <a:r>
              <a:t>The ACCESS randomized trial involved 250 students and found improvements in executive functioning and ADHD symptoms. However, ACCESS combined group cognitive-behavioral therapy with individual mentoring, so its results cannot be attributed to coaching alone or treated as a proven GPA gain.</a:t>
            </a:r>
          </a:p>
          <a:p/>
          <a:p>
            <a:r>
              <a:t>The strength is the direct match to planning and self-regulation needs. The limitation is recurring staff time and training. Our second option considers the infrastructure around this support.</a:t>
            </a:r>
          </a:p>
          <a:p/>
          <a:p>
            <a:r>
              <a:t>EVIDENCE / PRESENTER CHECK (not part of spoken timing)</a:t>
            </a:r>
          </a:p>
          <a:p>
            <a:r>
              <a:t>The diagram is a proposed coaching routine, not the exact ACCESS protocol. ACCESS tested a bundled CBT-plus-mentoring program, not coaching alone. Its reported d=.39–1.21 spans several outcomes and is intentionally omitted from the slide to avoid implying a GPA or coaching-only effect. DuPaul et al. used observational service-use data; no precise coaching-hour coefficient is quoted because the full coefficient table was not verified. https://doi.org/10.1037/ccp0000553 ; https://doi.org/10.1111/ldrp.12143</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~85 seconds, including closing</a:t>
            </a:r>
          </a:p>
          <a:p/>
          <a:p>
            <a:r>
              <a:t>SPOKEN SCRIPT</a:t>
            </a:r>
          </a:p>
          <a:p>
            <a:r>
              <a:t>The second possible solution is an integrated ADHD support system. A student would have a clear access point, appropriate accommodations, connections to coaching or mentoring, and continuing follow-up. Faculty awareness and referral to mental-health care, when needed, would connect these steps. This changes how services work together; coaching is only one component.</a:t>
            </a:r>
          </a:p>
          <a:p/>
          <a:p>
            <a:r>
              <a:t>Blasey and colleagues studied 1,980 students registered with disability services. Earlier registration and sustained accommodation use were associated with better academic outcomes. This was an observational study of a broad disability population, not an ADHD-only trial. The scoping review by Römhild and Hollederer also found varied results across services and accommodations, so merely creating a service does not guarantee academic improvement.</a:t>
            </a:r>
          </a:p>
          <a:p/>
          <a:p>
            <a:r>
              <a:t>The strength is continuity from access to ongoing support. The limitation is coordination across services, faculty and advisers. Neither option is the winner yet. The next stage of the research is to compare these approaches in terms of effectiveness, feasibility, cost, and suitability for universities in Kazakhstan.</a:t>
            </a:r>
          </a:p>
          <a:p/>
          <a:p>
            <a:r>
              <a:t>EVIDENCE / PRESENTER CHECK (not part of spoken timing)</a:t>
            </a:r>
          </a:p>
          <a:p>
            <a:r>
              <a:t>The service pathway is a proposed design, not a tested Kazakhstan intervention. Blasey et al.: N=1,980; broad disability sample, not ADHD-only; service use and outcomes are observational. Römhild &amp; Hollederer review heterogeneous services and outcomes; generic accommodations are not a guaranteed GPA intervention. No final recommendation is made. End with the stated next research step. https://doi.org/10.1177/00332941221078011 ; https://doi.org/10.1080/08856257.2023.2195074 ; https://doi.org/10.3389/fpsyg.2023.1216692</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Not part of the timed spoken presentation</a:t>
            </a:r>
          </a:p>
          <a:p/>
          <a:p>
            <a:r>
              <a:t>SPOKEN SCRIPT</a:t>
            </a:r>
          </a:p>
          <a:p>
            <a:r>
              <a:t>References are provided for questions and follow-up; do not read this slide aloud.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oi.org/10.3389/fpsyg.2023.1216692" TargetMode="External"/><Relationship Id="rId3" Type="http://schemas.openxmlformats.org/officeDocument/2006/relationships/hyperlink" Target="https://doi.org/10.1037/ccp0000553" TargetMode="External"/><Relationship Id="rId4" Type="http://schemas.openxmlformats.org/officeDocument/2006/relationships/hyperlink" Target="https://doi.org/10.1177/00332941221078011" TargetMode="External"/><Relationship Id="rId5" Type="http://schemas.openxmlformats.org/officeDocument/2006/relationships/hyperlink" Target="https://doi.org/10.1111/ldrp.12143" TargetMode="External"/><Relationship Id="rId6" Type="http://schemas.openxmlformats.org/officeDocument/2006/relationships/hyperlink" Target="https://doi.org/10.1177/1087054715623046" TargetMode="External"/><Relationship Id="rId7" Type="http://schemas.openxmlformats.org/officeDocument/2006/relationships/hyperlink" Target="https://nu.edu.kz/students/disability-and-special-learning-needs-support/" TargetMode="External"/><Relationship Id="rId8" Type="http://schemas.openxmlformats.org/officeDocument/2006/relationships/hyperlink" Target="https://doi.org/10.1080/08856257.2023.2195074" TargetMode="External"/><Relationship Id="rId9" Type="http://schemas.openxmlformats.org/officeDocument/2006/relationships/hyperlink" Target="https://doi.org/10.1038/s44184-026-00196-4" TargetMode="External"/><Relationship Id="rId10"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502920"/>
            <a:ext cx="10058400" cy="274320"/>
          </a:xfrm>
          <a:prstGeom prst="rect">
            <a:avLst/>
          </a:prstGeom>
          <a:noFill/>
        </p:spPr>
        <p:txBody>
          <a:bodyPr wrap="square" lIns="0" rIns="0" tIns="0" bIns="0" anchor="t">
            <a:spAutoFit/>
          </a:bodyPr>
          <a:lstStyle/>
          <a:p>
            <a:pPr algn="l">
              <a:lnSpc>
                <a:spcPct val="108000"/>
              </a:lnSpc>
              <a:spcBef>
                <a:spcPts val="0"/>
              </a:spcBef>
              <a:spcAft>
                <a:spcPts val="0"/>
              </a:spcAft>
              <a:defRPr sz="1100" b="1">
                <a:solidFill>
                  <a:srgbClr val="6058E8"/>
                </a:solidFill>
                <a:latin typeface="Inter"/>
              </a:defRPr>
            </a:pPr>
            <a:r>
              <a:t>TOPIC PROPOSAL  /  HIGHER EDUCATION</a:t>
            </a:r>
          </a:p>
        </p:txBody>
      </p:sp>
      <p:sp>
        <p:nvSpPr>
          <p:cNvPr id="3" name="TextBox 2"/>
          <p:cNvSpPr txBox="1"/>
          <p:nvPr/>
        </p:nvSpPr>
        <p:spPr>
          <a:xfrm>
            <a:off x="658368" y="1463040"/>
            <a:ext cx="10652760" cy="2331720"/>
          </a:xfrm>
          <a:prstGeom prst="rect">
            <a:avLst/>
          </a:prstGeom>
          <a:noFill/>
        </p:spPr>
        <p:txBody>
          <a:bodyPr wrap="square" lIns="0" rIns="0" tIns="0" bIns="0" anchor="t">
            <a:spAutoFit/>
          </a:bodyPr>
          <a:lstStyle/>
          <a:p>
            <a:pPr algn="l">
              <a:lnSpc>
                <a:spcPct val="108000"/>
              </a:lnSpc>
              <a:spcBef>
                <a:spcPts val="0"/>
              </a:spcBef>
              <a:spcAft>
                <a:spcPts val="0"/>
              </a:spcAft>
              <a:defRPr sz="4200" b="1">
                <a:solidFill>
                  <a:srgbClr val="18212F"/>
                </a:solidFill>
                <a:latin typeface="Inter"/>
              </a:defRPr>
            </a:pPr>
            <a:r>
              <a:t>Supporting University</a:t>
            </a:r>
          </a:p>
          <a:p>
            <a:pPr algn="l">
              <a:lnSpc>
                <a:spcPct val="108000"/>
              </a:lnSpc>
              <a:spcBef>
                <a:spcPts val="0"/>
              </a:spcBef>
              <a:spcAft>
                <a:spcPts val="0"/>
              </a:spcAft>
              <a:defRPr sz="4200" b="1">
                <a:solidFill>
                  <a:srgbClr val="18212F"/>
                </a:solidFill>
                <a:latin typeface="Inter"/>
              </a:defRPr>
            </a:pPr>
            <a:r>
              <a:t>Students with ADHD</a:t>
            </a:r>
          </a:p>
          <a:p>
            <a:pPr algn="l">
              <a:lnSpc>
                <a:spcPct val="108000"/>
              </a:lnSpc>
              <a:spcBef>
                <a:spcPts val="0"/>
              </a:spcBef>
              <a:spcAft>
                <a:spcPts val="0"/>
              </a:spcAft>
              <a:defRPr sz="4200" b="1">
                <a:solidFill>
                  <a:srgbClr val="18212F"/>
                </a:solidFill>
                <a:latin typeface="Inter"/>
              </a:defRPr>
            </a:pPr>
            <a:r>
              <a:t>in Kazakhstan</a:t>
            </a:r>
          </a:p>
        </p:txBody>
      </p:sp>
      <p:sp>
        <p:nvSpPr>
          <p:cNvPr id="4" name="TextBox 3"/>
          <p:cNvSpPr txBox="1"/>
          <p:nvPr/>
        </p:nvSpPr>
        <p:spPr>
          <a:xfrm>
            <a:off x="694944" y="4133087"/>
            <a:ext cx="9692640" cy="804672"/>
          </a:xfrm>
          <a:prstGeom prst="rect">
            <a:avLst/>
          </a:prstGeom>
          <a:noFill/>
        </p:spPr>
        <p:txBody>
          <a:bodyPr wrap="square" lIns="0" rIns="0" tIns="0" bIns="0" anchor="t">
            <a:spAutoFit/>
          </a:bodyPr>
          <a:lstStyle/>
          <a:p>
            <a:pPr algn="l">
              <a:lnSpc>
                <a:spcPct val="108000"/>
              </a:lnSpc>
              <a:spcBef>
                <a:spcPts val="0"/>
              </a:spcBef>
              <a:spcAft>
                <a:spcPts val="0"/>
              </a:spcAft>
              <a:defRPr sz="2200" b="0">
                <a:solidFill>
                  <a:srgbClr val="596373"/>
                </a:solidFill>
                <a:latin typeface="Inter"/>
              </a:defRPr>
            </a:pPr>
            <a:r>
              <a:t>Addressing the gap in</a:t>
            </a:r>
          </a:p>
          <a:p>
            <a:pPr algn="l">
              <a:lnSpc>
                <a:spcPct val="108000"/>
              </a:lnSpc>
              <a:spcBef>
                <a:spcPts val="0"/>
              </a:spcBef>
              <a:spcAft>
                <a:spcPts val="0"/>
              </a:spcAft>
              <a:defRPr sz="2200" b="0">
                <a:solidFill>
                  <a:srgbClr val="596373"/>
                </a:solidFill>
                <a:latin typeface="Inter"/>
              </a:defRPr>
            </a:pPr>
            <a:r>
              <a:t>ADHD-specific academic support</a:t>
            </a:r>
          </a:p>
        </p:txBody>
      </p:sp>
      <p:sp>
        <p:nvSpPr>
          <p:cNvPr id="5" name="Rectangle 4"/>
          <p:cNvSpPr/>
          <p:nvPr/>
        </p:nvSpPr>
        <p:spPr>
          <a:xfrm>
            <a:off x="694944" y="5248656"/>
            <a:ext cx="2377440" cy="50292"/>
          </a:xfrm>
          <a:prstGeom prst="rect">
            <a:avLst/>
          </a:prstGeom>
          <a:solidFill>
            <a:srgbClr val="605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94944" y="5925312"/>
            <a:ext cx="10241280" cy="411480"/>
          </a:xfrm>
          <a:prstGeom prst="rect">
            <a:avLst/>
          </a:prstGeom>
          <a:noFill/>
        </p:spPr>
        <p:txBody>
          <a:bodyPr wrap="square" lIns="0" rIns="0" tIns="0" bIns="0" anchor="t">
            <a:spAutoFit/>
          </a:bodyPr>
          <a:lstStyle/>
          <a:p>
            <a:pPr algn="l">
              <a:lnSpc>
                <a:spcPct val="108000"/>
              </a:lnSpc>
              <a:spcBef>
                <a:spcPts val="0"/>
              </a:spcBef>
              <a:spcAft>
                <a:spcPts val="0"/>
              </a:spcAft>
              <a:defRPr sz="1400" b="0">
                <a:solidFill>
                  <a:srgbClr val="596373"/>
                </a:solidFill>
                <a:latin typeface="Inter"/>
              </a:defRPr>
            </a:pPr>
            <a:r>
              <a:t>[Presenter name(s)]  ·  [Course]  ·  [Presentation date]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347472"/>
            <a:ext cx="10972800" cy="228600"/>
          </a:xfrm>
          <a:prstGeom prst="rect">
            <a:avLst/>
          </a:prstGeom>
          <a:noFill/>
        </p:spPr>
        <p:txBody>
          <a:bodyPr wrap="square" lIns="0" rIns="0" tIns="0" bIns="0" anchor="t">
            <a:spAutoFit/>
          </a:bodyPr>
          <a:lstStyle/>
          <a:p>
            <a:pPr algn="l">
              <a:lnSpc>
                <a:spcPct val="108000"/>
              </a:lnSpc>
              <a:spcBef>
                <a:spcPts val="0"/>
              </a:spcBef>
              <a:spcAft>
                <a:spcPts val="0"/>
              </a:spcAft>
              <a:defRPr sz="1100" b="1">
                <a:solidFill>
                  <a:srgbClr val="6058E8"/>
                </a:solidFill>
                <a:latin typeface="Inter"/>
              </a:defRPr>
            </a:pPr>
            <a:r>
              <a:t>01 / THE PROBLEM</a:t>
            </a:r>
          </a:p>
        </p:txBody>
      </p:sp>
      <p:sp>
        <p:nvSpPr>
          <p:cNvPr id="3" name="TextBox 2"/>
          <p:cNvSpPr txBox="1"/>
          <p:nvPr/>
        </p:nvSpPr>
        <p:spPr>
          <a:xfrm>
            <a:off x="594360" y="758952"/>
            <a:ext cx="10972800" cy="1024128"/>
          </a:xfrm>
          <a:prstGeom prst="rect">
            <a:avLst/>
          </a:prstGeom>
          <a:noFill/>
        </p:spPr>
        <p:txBody>
          <a:bodyPr wrap="square" lIns="0" rIns="0" tIns="0" bIns="0" anchor="t">
            <a:spAutoFit/>
          </a:bodyPr>
          <a:lstStyle/>
          <a:p>
            <a:pPr algn="l">
              <a:lnSpc>
                <a:spcPct val="108000"/>
              </a:lnSpc>
              <a:spcBef>
                <a:spcPts val="0"/>
              </a:spcBef>
              <a:spcAft>
                <a:spcPts val="0"/>
              </a:spcAft>
              <a:defRPr sz="3200" b="1">
                <a:solidFill>
                  <a:srgbClr val="18212F"/>
                </a:solidFill>
                <a:latin typeface="Inter"/>
              </a:defRPr>
            </a:pPr>
            <a:r>
              <a:t>University demands can amplify</a:t>
            </a:r>
          </a:p>
          <a:p>
            <a:pPr algn="l">
              <a:lnSpc>
                <a:spcPct val="108000"/>
              </a:lnSpc>
              <a:spcBef>
                <a:spcPts val="0"/>
              </a:spcBef>
              <a:spcAft>
                <a:spcPts val="0"/>
              </a:spcAft>
              <a:defRPr sz="3200" b="1">
                <a:solidFill>
                  <a:srgbClr val="18212F"/>
                </a:solidFill>
                <a:latin typeface="Inter"/>
              </a:defRPr>
            </a:pPr>
            <a:r>
              <a:t>ADHD-related difficulties</a:t>
            </a:r>
          </a:p>
        </p:txBody>
      </p:sp>
      <p:sp>
        <p:nvSpPr>
          <p:cNvPr id="4" name="Rounded Rectangle 3"/>
          <p:cNvSpPr/>
          <p:nvPr/>
        </p:nvSpPr>
        <p:spPr>
          <a:xfrm>
            <a:off x="594360" y="2103120"/>
            <a:ext cx="3273552" cy="2048256"/>
          </a:xfrm>
          <a:prstGeom prst="roundRect">
            <a:avLst>
              <a:gd name="adj" fmla="val 12000"/>
            </a:avLst>
          </a:prstGeom>
          <a:solidFill>
            <a:srgbClr val="FFFFFF"/>
          </a:solidFill>
          <a:ln w="11430">
            <a:solidFill>
              <a:srgbClr val="605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04672" y="2359152"/>
            <a:ext cx="2871216" cy="786384"/>
          </a:xfrm>
          <a:prstGeom prst="rect">
            <a:avLst/>
          </a:prstGeom>
          <a:noFill/>
        </p:spPr>
        <p:txBody>
          <a:bodyPr wrap="square" lIns="0" rIns="0" tIns="0" bIns="0" anchor="t">
            <a:spAutoFit/>
          </a:bodyPr>
          <a:lstStyle/>
          <a:p>
            <a:pPr algn="l">
              <a:lnSpc>
                <a:spcPct val="108000"/>
              </a:lnSpc>
              <a:spcBef>
                <a:spcPts val="0"/>
              </a:spcBef>
              <a:spcAft>
                <a:spcPts val="0"/>
              </a:spcAft>
              <a:defRPr sz="2200" b="1">
                <a:solidFill>
                  <a:srgbClr val="18212F"/>
                </a:solidFill>
                <a:latin typeface="Inter"/>
              </a:defRPr>
            </a:pPr>
            <a:r>
              <a:t>ADHD-related</a:t>
            </a:r>
          </a:p>
          <a:p>
            <a:pPr algn="l">
              <a:lnSpc>
                <a:spcPct val="108000"/>
              </a:lnSpc>
              <a:spcBef>
                <a:spcPts val="0"/>
              </a:spcBef>
              <a:spcAft>
                <a:spcPts val="0"/>
              </a:spcAft>
              <a:defRPr sz="2200" b="1">
                <a:solidFill>
                  <a:srgbClr val="18212F"/>
                </a:solidFill>
                <a:latin typeface="Inter"/>
              </a:defRPr>
            </a:pPr>
            <a:r>
              <a:t>difficulties</a:t>
            </a:r>
          </a:p>
        </p:txBody>
      </p:sp>
      <p:sp>
        <p:nvSpPr>
          <p:cNvPr id="6" name="TextBox 5"/>
          <p:cNvSpPr txBox="1"/>
          <p:nvPr/>
        </p:nvSpPr>
        <p:spPr>
          <a:xfrm>
            <a:off x="804672" y="3328416"/>
            <a:ext cx="2871216" cy="594360"/>
          </a:xfrm>
          <a:prstGeom prst="rect">
            <a:avLst/>
          </a:prstGeom>
          <a:noFill/>
        </p:spPr>
        <p:txBody>
          <a:bodyPr wrap="square" lIns="0" rIns="0" tIns="0" bIns="0" anchor="t">
            <a:spAutoFit/>
          </a:bodyPr>
          <a:lstStyle/>
          <a:p>
            <a:pPr algn="l">
              <a:lnSpc>
                <a:spcPct val="108000"/>
              </a:lnSpc>
              <a:spcBef>
                <a:spcPts val="0"/>
              </a:spcBef>
              <a:spcAft>
                <a:spcPts val="0"/>
              </a:spcAft>
              <a:defRPr sz="1800" b="0">
                <a:solidFill>
                  <a:srgbClr val="596373"/>
                </a:solidFill>
                <a:latin typeface="Inter"/>
              </a:defRPr>
            </a:pPr>
            <a:r>
              <a:t>Attention • planning</a:t>
            </a:r>
          </a:p>
          <a:p>
            <a:pPr algn="l">
              <a:lnSpc>
                <a:spcPct val="108000"/>
              </a:lnSpc>
              <a:spcBef>
                <a:spcPts val="0"/>
              </a:spcBef>
              <a:spcAft>
                <a:spcPts val="0"/>
              </a:spcAft>
              <a:defRPr sz="1800" b="0">
                <a:solidFill>
                  <a:srgbClr val="596373"/>
                </a:solidFill>
                <a:latin typeface="Inter"/>
              </a:defRPr>
            </a:pPr>
            <a:r>
              <a:t>Organization • self-monitoring</a:t>
            </a:r>
          </a:p>
        </p:txBody>
      </p:sp>
      <p:sp>
        <p:nvSpPr>
          <p:cNvPr id="7" name="Rounded Rectangle 6"/>
          <p:cNvSpPr/>
          <p:nvPr/>
        </p:nvSpPr>
        <p:spPr>
          <a:xfrm>
            <a:off x="4453128" y="2103120"/>
            <a:ext cx="3273552" cy="2048256"/>
          </a:xfrm>
          <a:prstGeom prst="roundRect">
            <a:avLst>
              <a:gd name="adj" fmla="val 12000"/>
            </a:avLst>
          </a:prstGeom>
          <a:solidFill>
            <a:srgbClr val="FFFFFF"/>
          </a:solidFill>
          <a:ln w="11430">
            <a:solidFill>
              <a:srgbClr val="605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663440" y="2359152"/>
            <a:ext cx="2871216" cy="786384"/>
          </a:xfrm>
          <a:prstGeom prst="rect">
            <a:avLst/>
          </a:prstGeom>
          <a:noFill/>
        </p:spPr>
        <p:txBody>
          <a:bodyPr wrap="square" lIns="0" rIns="0" tIns="0" bIns="0" anchor="t">
            <a:spAutoFit/>
          </a:bodyPr>
          <a:lstStyle/>
          <a:p>
            <a:pPr algn="l">
              <a:lnSpc>
                <a:spcPct val="108000"/>
              </a:lnSpc>
              <a:spcBef>
                <a:spcPts val="0"/>
              </a:spcBef>
              <a:spcAft>
                <a:spcPts val="0"/>
              </a:spcAft>
              <a:defRPr sz="2200" b="1">
                <a:solidFill>
                  <a:srgbClr val="18212F"/>
                </a:solidFill>
                <a:latin typeface="Inter"/>
              </a:defRPr>
            </a:pPr>
            <a:r>
              <a:t>University</a:t>
            </a:r>
          </a:p>
          <a:p>
            <a:pPr algn="l">
              <a:lnSpc>
                <a:spcPct val="108000"/>
              </a:lnSpc>
              <a:spcBef>
                <a:spcPts val="0"/>
              </a:spcBef>
              <a:spcAft>
                <a:spcPts val="0"/>
              </a:spcAft>
              <a:defRPr sz="2200" b="1">
                <a:solidFill>
                  <a:srgbClr val="18212F"/>
                </a:solidFill>
                <a:latin typeface="Inter"/>
              </a:defRPr>
            </a:pPr>
            <a:r>
              <a:t>demands</a:t>
            </a:r>
          </a:p>
        </p:txBody>
      </p:sp>
      <p:sp>
        <p:nvSpPr>
          <p:cNvPr id="9" name="TextBox 8"/>
          <p:cNvSpPr txBox="1"/>
          <p:nvPr/>
        </p:nvSpPr>
        <p:spPr>
          <a:xfrm>
            <a:off x="4663440" y="3328416"/>
            <a:ext cx="2871216" cy="594360"/>
          </a:xfrm>
          <a:prstGeom prst="rect">
            <a:avLst/>
          </a:prstGeom>
          <a:noFill/>
        </p:spPr>
        <p:txBody>
          <a:bodyPr wrap="square" lIns="0" rIns="0" tIns="0" bIns="0" anchor="t">
            <a:spAutoFit/>
          </a:bodyPr>
          <a:lstStyle/>
          <a:p>
            <a:pPr algn="l">
              <a:lnSpc>
                <a:spcPct val="108000"/>
              </a:lnSpc>
              <a:spcBef>
                <a:spcPts val="0"/>
              </a:spcBef>
              <a:spcAft>
                <a:spcPts val="0"/>
              </a:spcAft>
              <a:defRPr sz="1800" b="0">
                <a:solidFill>
                  <a:srgbClr val="596373"/>
                </a:solidFill>
                <a:latin typeface="Inter"/>
              </a:defRPr>
            </a:pPr>
            <a:r>
              <a:t>Independent learning</a:t>
            </a:r>
          </a:p>
          <a:p>
            <a:pPr algn="l">
              <a:lnSpc>
                <a:spcPct val="108000"/>
              </a:lnSpc>
              <a:spcBef>
                <a:spcPts val="0"/>
              </a:spcBef>
              <a:spcAft>
                <a:spcPts val="0"/>
              </a:spcAft>
              <a:defRPr sz="1800" b="0">
                <a:solidFill>
                  <a:srgbClr val="596373"/>
                </a:solidFill>
                <a:latin typeface="Inter"/>
              </a:defRPr>
            </a:pPr>
            <a:r>
              <a:t>Multiple deadlines</a:t>
            </a:r>
          </a:p>
        </p:txBody>
      </p:sp>
      <p:sp>
        <p:nvSpPr>
          <p:cNvPr id="10" name="Rounded Rectangle 9"/>
          <p:cNvSpPr/>
          <p:nvPr/>
        </p:nvSpPr>
        <p:spPr>
          <a:xfrm>
            <a:off x="8311896" y="2103120"/>
            <a:ext cx="3273552" cy="2048256"/>
          </a:xfrm>
          <a:prstGeom prst="roundRect">
            <a:avLst>
              <a:gd name="adj" fmla="val 12000"/>
            </a:avLst>
          </a:prstGeom>
          <a:solidFill>
            <a:srgbClr val="F3F2FE"/>
          </a:solidFill>
          <a:ln w="11430">
            <a:solidFill>
              <a:srgbClr val="605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522208" y="2359152"/>
            <a:ext cx="2871216" cy="786384"/>
          </a:xfrm>
          <a:prstGeom prst="rect">
            <a:avLst/>
          </a:prstGeom>
          <a:noFill/>
        </p:spPr>
        <p:txBody>
          <a:bodyPr wrap="square" lIns="0" rIns="0" tIns="0" bIns="0" anchor="t">
            <a:spAutoFit/>
          </a:bodyPr>
          <a:lstStyle/>
          <a:p>
            <a:pPr algn="l">
              <a:lnSpc>
                <a:spcPct val="108000"/>
              </a:lnSpc>
              <a:spcBef>
                <a:spcPts val="0"/>
              </a:spcBef>
              <a:spcAft>
                <a:spcPts val="0"/>
              </a:spcAft>
              <a:defRPr sz="2200" b="1">
                <a:solidFill>
                  <a:srgbClr val="6058E8"/>
                </a:solidFill>
                <a:latin typeface="Inter"/>
              </a:defRPr>
            </a:pPr>
            <a:r>
              <a:t>ADHD-specific</a:t>
            </a:r>
          </a:p>
          <a:p>
            <a:pPr algn="l">
              <a:lnSpc>
                <a:spcPct val="108000"/>
              </a:lnSpc>
              <a:spcBef>
                <a:spcPts val="0"/>
              </a:spcBef>
              <a:spcAft>
                <a:spcPts val="0"/>
              </a:spcAft>
              <a:defRPr sz="2200" b="1">
                <a:solidFill>
                  <a:srgbClr val="6058E8"/>
                </a:solidFill>
                <a:latin typeface="Inter"/>
              </a:defRPr>
            </a:pPr>
            <a:r>
              <a:t>support gap</a:t>
            </a:r>
          </a:p>
        </p:txBody>
      </p:sp>
      <p:sp>
        <p:nvSpPr>
          <p:cNvPr id="12" name="TextBox 11"/>
          <p:cNvSpPr txBox="1"/>
          <p:nvPr/>
        </p:nvSpPr>
        <p:spPr>
          <a:xfrm>
            <a:off x="8522208" y="3328416"/>
            <a:ext cx="2871216" cy="594360"/>
          </a:xfrm>
          <a:prstGeom prst="rect">
            <a:avLst/>
          </a:prstGeom>
          <a:noFill/>
        </p:spPr>
        <p:txBody>
          <a:bodyPr wrap="square" lIns="0" rIns="0" tIns="0" bIns="0" anchor="t">
            <a:spAutoFit/>
          </a:bodyPr>
          <a:lstStyle/>
          <a:p>
            <a:pPr algn="l">
              <a:lnSpc>
                <a:spcPct val="108000"/>
              </a:lnSpc>
              <a:spcBef>
                <a:spcPts val="0"/>
              </a:spcBef>
              <a:spcAft>
                <a:spcPts val="0"/>
              </a:spcAft>
              <a:defRPr sz="1800" b="0">
                <a:solidFill>
                  <a:srgbClr val="596373"/>
                </a:solidFill>
                <a:latin typeface="Inter"/>
              </a:defRPr>
            </a:pPr>
            <a:r>
              <a:t>Availability • consistency</a:t>
            </a:r>
          </a:p>
          <a:p>
            <a:pPr algn="l">
              <a:lnSpc>
                <a:spcPct val="108000"/>
              </a:lnSpc>
              <a:spcBef>
                <a:spcPts val="0"/>
              </a:spcBef>
              <a:spcAft>
                <a:spcPts val="0"/>
              </a:spcAft>
              <a:defRPr sz="1800" b="0">
                <a:solidFill>
                  <a:srgbClr val="596373"/>
                </a:solidFill>
                <a:latin typeface="Inter"/>
              </a:defRPr>
            </a:pPr>
            <a:r>
              <a:t>Evaluation</a:t>
            </a:r>
          </a:p>
        </p:txBody>
      </p:sp>
      <p:cxnSp>
        <p:nvCxnSpPr>
          <p:cNvPr id="13" name="Connector 12"/>
          <p:cNvCxnSpPr/>
          <p:nvPr/>
        </p:nvCxnSpPr>
        <p:spPr>
          <a:xfrm>
            <a:off x="3931920" y="3127248"/>
            <a:ext cx="420624" cy="0"/>
          </a:xfrm>
          <a:prstGeom prst="line">
            <a:avLst/>
          </a:prstGeom>
          <a:ln w="14604">
            <a:solidFill>
              <a:srgbClr val="6058E8"/>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7790688" y="3127248"/>
            <a:ext cx="420624" cy="0"/>
          </a:xfrm>
          <a:prstGeom prst="line">
            <a:avLst/>
          </a:prstGeom>
          <a:ln w="14604">
            <a:solidFill>
              <a:srgbClr val="6058E8"/>
            </a:solidFill>
            <a:tailEnd type="triangle" w="sm" len="sm"/>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8494776" y="4279392"/>
            <a:ext cx="2971800" cy="256032"/>
          </a:xfrm>
          <a:prstGeom prst="rect">
            <a:avLst/>
          </a:prstGeom>
          <a:noFill/>
        </p:spPr>
        <p:txBody>
          <a:bodyPr wrap="square" lIns="0" rIns="0" tIns="0" bIns="0" anchor="t">
            <a:spAutoFit/>
          </a:bodyPr>
          <a:lstStyle/>
          <a:p>
            <a:pPr algn="l">
              <a:lnSpc>
                <a:spcPct val="108000"/>
              </a:lnSpc>
              <a:spcBef>
                <a:spcPts val="0"/>
              </a:spcBef>
              <a:spcAft>
                <a:spcPts val="0"/>
              </a:spcAft>
              <a:defRPr sz="1000" b="1">
                <a:solidFill>
                  <a:srgbClr val="6058E8"/>
                </a:solidFill>
                <a:latin typeface="Inter"/>
              </a:defRPr>
            </a:pPr>
            <a:r>
              <a:t>WORKING PROPOSITION TO INVESTIGATE</a:t>
            </a:r>
          </a:p>
        </p:txBody>
      </p:sp>
      <p:sp>
        <p:nvSpPr>
          <p:cNvPr id="16" name="TextBox 15"/>
          <p:cNvSpPr txBox="1"/>
          <p:nvPr/>
        </p:nvSpPr>
        <p:spPr>
          <a:xfrm>
            <a:off x="658368" y="4855464"/>
            <a:ext cx="10698480" cy="384048"/>
          </a:xfrm>
          <a:prstGeom prst="rect">
            <a:avLst/>
          </a:prstGeom>
          <a:noFill/>
        </p:spPr>
        <p:txBody>
          <a:bodyPr wrap="square" lIns="0" rIns="0" tIns="0" bIns="0" anchor="t">
            <a:spAutoFit/>
          </a:bodyPr>
          <a:lstStyle/>
          <a:p>
            <a:pPr algn="l">
              <a:lnSpc>
                <a:spcPct val="108000"/>
              </a:lnSpc>
              <a:spcBef>
                <a:spcPts val="0"/>
              </a:spcBef>
              <a:spcAft>
                <a:spcPts val="0"/>
              </a:spcAft>
              <a:defRPr sz="2000" b="0">
                <a:solidFill>
                  <a:srgbClr val="18212F"/>
                </a:solidFill>
                <a:latin typeface="Inter"/>
              </a:defRPr>
            </a:pPr>
            <a:r>
              <a:t>General support exists—for example, at Nazarbayev University.</a:t>
            </a:r>
          </a:p>
        </p:txBody>
      </p:sp>
      <p:sp>
        <p:nvSpPr>
          <p:cNvPr id="17" name="TextBox 16"/>
          <p:cNvSpPr txBox="1"/>
          <p:nvPr/>
        </p:nvSpPr>
        <p:spPr>
          <a:xfrm>
            <a:off x="658368" y="5449824"/>
            <a:ext cx="10698480" cy="530352"/>
          </a:xfrm>
          <a:prstGeom prst="rect">
            <a:avLst/>
          </a:prstGeom>
          <a:noFill/>
        </p:spPr>
        <p:txBody>
          <a:bodyPr wrap="square" lIns="0" rIns="0" tIns="0" bIns="0" anchor="t">
            <a:spAutoFit/>
          </a:bodyPr>
          <a:lstStyle/>
          <a:p>
            <a:pPr algn="l">
              <a:lnSpc>
                <a:spcPct val="108000"/>
              </a:lnSpc>
              <a:spcBef>
                <a:spcPts val="0"/>
              </a:spcBef>
              <a:spcAft>
                <a:spcPts val="0"/>
              </a:spcAft>
              <a:defRPr sz="2000" b="1">
                <a:solidFill>
                  <a:srgbClr val="18212F"/>
                </a:solidFill>
                <a:latin typeface="Inter"/>
              </a:defRPr>
            </a:pPr>
            <a:r>
              <a:t>The research gap: how well does support meet ADHD-specific learning needs?</a:t>
            </a:r>
          </a:p>
        </p:txBody>
      </p:sp>
      <p:sp>
        <p:nvSpPr>
          <p:cNvPr id="18" name="TextBox 17"/>
          <p:cNvSpPr txBox="1"/>
          <p:nvPr/>
        </p:nvSpPr>
        <p:spPr>
          <a:xfrm>
            <a:off x="594360" y="6382512"/>
            <a:ext cx="10652760" cy="228600"/>
          </a:xfrm>
          <a:prstGeom prst="rect">
            <a:avLst/>
          </a:prstGeom>
          <a:noFill/>
        </p:spPr>
        <p:txBody>
          <a:bodyPr wrap="square" lIns="0" rIns="0" tIns="0" bIns="0" anchor="t">
            <a:spAutoFit/>
          </a:bodyPr>
          <a:lstStyle/>
          <a:p>
            <a:pPr algn="l">
              <a:lnSpc>
                <a:spcPct val="108000"/>
              </a:lnSpc>
              <a:spcBef>
                <a:spcPts val="0"/>
              </a:spcBef>
              <a:spcAft>
                <a:spcPts val="0"/>
              </a:spcAft>
              <a:defRPr sz="1050" b="0">
                <a:solidFill>
                  <a:srgbClr val="596373"/>
                </a:solidFill>
                <a:latin typeface="Inter"/>
              </a:defRPr>
            </a:pPr>
            <a:r>
              <a:t>(Álvarez-Godos et al., 2023; Ross et al., 2026; Nazarbayev University, n.d.)</a:t>
            </a:r>
          </a:p>
        </p:txBody>
      </p:sp>
      <p:sp>
        <p:nvSpPr>
          <p:cNvPr id="19" name="TextBox 18"/>
          <p:cNvSpPr txBox="1"/>
          <p:nvPr/>
        </p:nvSpPr>
        <p:spPr>
          <a:xfrm>
            <a:off x="11192256" y="6373368"/>
            <a:ext cx="393192" cy="274320"/>
          </a:xfrm>
          <a:prstGeom prst="rect">
            <a:avLst/>
          </a:prstGeom>
          <a:noFill/>
        </p:spPr>
        <p:txBody>
          <a:bodyPr wrap="square" lIns="0" rIns="0" tIns="0" bIns="0" anchor="t">
            <a:spAutoFit/>
          </a:bodyPr>
          <a:lstStyle/>
          <a:p>
            <a:pPr algn="r">
              <a:lnSpc>
                <a:spcPct val="108000"/>
              </a:lnSpc>
              <a:spcBef>
                <a:spcPts val="0"/>
              </a:spcBef>
              <a:spcAft>
                <a:spcPts val="0"/>
              </a:spcAft>
              <a:defRPr sz="1100" b="0">
                <a:solidFill>
                  <a:srgbClr val="596373"/>
                </a:solidFill>
                <a:latin typeface="Inter"/>
              </a:defRPr>
            </a:pPr>
            <a:r>
              <a:t>01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347472"/>
            <a:ext cx="10972800" cy="228600"/>
          </a:xfrm>
          <a:prstGeom prst="rect">
            <a:avLst/>
          </a:prstGeom>
          <a:noFill/>
        </p:spPr>
        <p:txBody>
          <a:bodyPr wrap="square" lIns="0" rIns="0" tIns="0" bIns="0" anchor="t">
            <a:spAutoFit/>
          </a:bodyPr>
          <a:lstStyle/>
          <a:p>
            <a:pPr algn="l">
              <a:lnSpc>
                <a:spcPct val="108000"/>
              </a:lnSpc>
              <a:spcBef>
                <a:spcPts val="0"/>
              </a:spcBef>
              <a:spcAft>
                <a:spcPts val="0"/>
              </a:spcAft>
              <a:defRPr sz="1100" b="1">
                <a:solidFill>
                  <a:srgbClr val="6058E8"/>
                </a:solidFill>
                <a:latin typeface="Inter"/>
              </a:defRPr>
            </a:pPr>
            <a:r>
              <a:t>02 / WHY THE PROBLEM MATTERS</a:t>
            </a:r>
          </a:p>
        </p:txBody>
      </p:sp>
      <p:sp>
        <p:nvSpPr>
          <p:cNvPr id="3" name="TextBox 2"/>
          <p:cNvSpPr txBox="1"/>
          <p:nvPr/>
        </p:nvSpPr>
        <p:spPr>
          <a:xfrm>
            <a:off x="594360" y="758952"/>
            <a:ext cx="10972800" cy="1024128"/>
          </a:xfrm>
          <a:prstGeom prst="rect">
            <a:avLst/>
          </a:prstGeom>
          <a:noFill/>
        </p:spPr>
        <p:txBody>
          <a:bodyPr wrap="square" lIns="0" rIns="0" tIns="0" bIns="0" anchor="t">
            <a:spAutoFit/>
          </a:bodyPr>
          <a:lstStyle/>
          <a:p>
            <a:pPr algn="l">
              <a:lnSpc>
                <a:spcPct val="108000"/>
              </a:lnSpc>
              <a:spcBef>
                <a:spcPts val="0"/>
              </a:spcBef>
              <a:spcAft>
                <a:spcPts val="0"/>
              </a:spcAft>
              <a:defRPr sz="3200" b="1">
                <a:solidFill>
                  <a:srgbClr val="18212F"/>
                </a:solidFill>
                <a:latin typeface="Inter"/>
              </a:defRPr>
            </a:pPr>
            <a:r>
              <a:t>First-Year GPA: Students</a:t>
            </a:r>
          </a:p>
          <a:p>
            <a:pPr algn="l">
              <a:lnSpc>
                <a:spcPct val="108000"/>
              </a:lnSpc>
              <a:spcBef>
                <a:spcPts val="0"/>
              </a:spcBef>
              <a:spcAft>
                <a:spcPts val="0"/>
              </a:spcAft>
              <a:defRPr sz="3200" b="1">
                <a:solidFill>
                  <a:srgbClr val="18212F"/>
                </a:solidFill>
                <a:latin typeface="Inter"/>
              </a:defRPr>
            </a:pPr>
            <a:r>
              <a:t>With and Without ADHD</a:t>
            </a:r>
          </a:p>
        </p:txBody>
      </p:sp>
      <p:graphicFrame>
        <p:nvGraphicFramePr>
          <p:cNvPr id="4" name="Chart 3"/>
          <p:cNvGraphicFramePr>
            <a:graphicFrameLocks noGrp="1"/>
          </p:cNvGraphicFramePr>
          <p:nvPr/>
        </p:nvGraphicFramePr>
        <p:xfrm>
          <a:off x="612648" y="1856231"/>
          <a:ext cx="7351775" cy="3968496"/>
        </p:xfrm>
        <a:graphic>
          <a:graphicData uri="http://schemas.openxmlformats.org/drawingml/2006/chart">
            <c:chart xmlns:c="http://schemas.openxmlformats.org/drawingml/2006/chart" r:id="rId2"/>
          </a:graphicData>
        </a:graphic>
      </p:graphicFrame>
      <p:sp>
        <p:nvSpPr>
          <p:cNvPr id="5" name="Rounded Rectangle 4"/>
          <p:cNvSpPr/>
          <p:nvPr/>
        </p:nvSpPr>
        <p:spPr>
          <a:xfrm>
            <a:off x="8321040" y="2359152"/>
            <a:ext cx="3246120" cy="2194560"/>
          </a:xfrm>
          <a:prstGeom prst="roundRect">
            <a:avLst>
              <a:gd name="adj" fmla="val 12000"/>
            </a:avLst>
          </a:prstGeom>
          <a:solidFill>
            <a:srgbClr val="FFFFFF"/>
          </a:solidFill>
          <a:ln w="11430">
            <a:solidFill>
              <a:srgbClr val="605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58784" y="2688336"/>
            <a:ext cx="2779776" cy="585216"/>
          </a:xfrm>
          <a:prstGeom prst="rect">
            <a:avLst/>
          </a:prstGeom>
          <a:noFill/>
        </p:spPr>
        <p:txBody>
          <a:bodyPr wrap="square" lIns="0" rIns="0" tIns="0" bIns="0" anchor="t">
            <a:spAutoFit/>
          </a:bodyPr>
          <a:lstStyle/>
          <a:p>
            <a:pPr algn="l">
              <a:lnSpc>
                <a:spcPct val="108000"/>
              </a:lnSpc>
              <a:spcBef>
                <a:spcPts val="0"/>
              </a:spcBef>
              <a:spcAft>
                <a:spcPts val="0"/>
              </a:spcAft>
              <a:defRPr sz="3400" b="1">
                <a:solidFill>
                  <a:srgbClr val="6058E8"/>
                </a:solidFill>
                <a:latin typeface="Inter"/>
              </a:defRPr>
            </a:pPr>
            <a:r>
              <a:t>0.34–0.35</a:t>
            </a:r>
          </a:p>
        </p:txBody>
      </p:sp>
      <p:sp>
        <p:nvSpPr>
          <p:cNvPr id="7" name="TextBox 6"/>
          <p:cNvSpPr txBox="1"/>
          <p:nvPr/>
        </p:nvSpPr>
        <p:spPr>
          <a:xfrm>
            <a:off x="8558784" y="3493008"/>
            <a:ext cx="2779776" cy="841248"/>
          </a:xfrm>
          <a:prstGeom prst="rect">
            <a:avLst/>
          </a:prstGeom>
          <a:noFill/>
        </p:spPr>
        <p:txBody>
          <a:bodyPr wrap="square" lIns="0" rIns="0" tIns="0" bIns="0" anchor="t">
            <a:spAutoFit/>
          </a:bodyPr>
          <a:lstStyle/>
          <a:p>
            <a:pPr algn="l">
              <a:lnSpc>
                <a:spcPct val="108000"/>
              </a:lnSpc>
              <a:spcBef>
                <a:spcPts val="0"/>
              </a:spcBef>
              <a:spcAft>
                <a:spcPts val="0"/>
              </a:spcAft>
              <a:defRPr sz="2100" b="0">
                <a:solidFill>
                  <a:srgbClr val="18212F"/>
                </a:solidFill>
                <a:latin typeface="Inter"/>
              </a:defRPr>
            </a:pPr>
            <a:r>
              <a:t>GPA points lower</a:t>
            </a:r>
          </a:p>
          <a:p>
            <a:pPr algn="l">
              <a:lnSpc>
                <a:spcPct val="108000"/>
              </a:lnSpc>
              <a:spcBef>
                <a:spcPts val="0"/>
              </a:spcBef>
              <a:spcAft>
                <a:spcPts val="0"/>
              </a:spcAft>
              <a:defRPr sz="2100" b="0">
                <a:solidFill>
                  <a:srgbClr val="18212F"/>
                </a:solidFill>
                <a:latin typeface="Inter"/>
              </a:defRPr>
            </a:pPr>
            <a:r>
              <a:t>in the ADHD group</a:t>
            </a:r>
          </a:p>
        </p:txBody>
      </p:sp>
      <p:sp>
        <p:nvSpPr>
          <p:cNvPr id="8" name="TextBox 7"/>
          <p:cNvSpPr txBox="1"/>
          <p:nvPr/>
        </p:nvSpPr>
        <p:spPr>
          <a:xfrm>
            <a:off x="8366760" y="4919472"/>
            <a:ext cx="3209544" cy="795528"/>
          </a:xfrm>
          <a:prstGeom prst="rect">
            <a:avLst/>
          </a:prstGeom>
          <a:noFill/>
        </p:spPr>
        <p:txBody>
          <a:bodyPr wrap="square" lIns="0" rIns="0" tIns="0" bIns="0" anchor="t">
            <a:spAutoFit/>
          </a:bodyPr>
          <a:lstStyle/>
          <a:p>
            <a:pPr algn="l">
              <a:lnSpc>
                <a:spcPct val="108000"/>
              </a:lnSpc>
              <a:spcBef>
                <a:spcPts val="0"/>
              </a:spcBef>
              <a:spcAft>
                <a:spcPts val="0"/>
              </a:spcAft>
              <a:defRPr sz="2000" b="1">
                <a:solidFill>
                  <a:srgbClr val="18212F"/>
                </a:solidFill>
                <a:latin typeface="Inter"/>
              </a:defRPr>
            </a:pPr>
            <a:r>
              <a:t>A consistent gap</a:t>
            </a:r>
          </a:p>
          <a:p>
            <a:pPr algn="l">
              <a:lnSpc>
                <a:spcPct val="108000"/>
              </a:lnSpc>
              <a:spcBef>
                <a:spcPts val="0"/>
              </a:spcBef>
              <a:spcAft>
                <a:spcPts val="0"/>
              </a:spcAft>
              <a:defRPr sz="2000" b="1">
                <a:solidFill>
                  <a:srgbClr val="18212F"/>
                </a:solidFill>
                <a:latin typeface="Inter"/>
              </a:defRPr>
            </a:pPr>
            <a:r>
              <a:t>across both semesters.</a:t>
            </a:r>
          </a:p>
        </p:txBody>
      </p:sp>
      <p:sp>
        <p:nvSpPr>
          <p:cNvPr id="9" name="TextBox 8"/>
          <p:cNvSpPr txBox="1"/>
          <p:nvPr/>
        </p:nvSpPr>
        <p:spPr>
          <a:xfrm>
            <a:off x="813816" y="5971032"/>
            <a:ext cx="10607040" cy="283464"/>
          </a:xfrm>
          <a:prstGeom prst="rect">
            <a:avLst/>
          </a:prstGeom>
          <a:noFill/>
        </p:spPr>
        <p:txBody>
          <a:bodyPr wrap="square" lIns="0" rIns="0" tIns="0" bIns="0" anchor="t">
            <a:spAutoFit/>
          </a:bodyPr>
          <a:lstStyle/>
          <a:p>
            <a:pPr algn="l">
              <a:lnSpc>
                <a:spcPct val="108000"/>
              </a:lnSpc>
              <a:spcBef>
                <a:spcPts val="0"/>
              </a:spcBef>
              <a:spcAft>
                <a:spcPts val="0"/>
              </a:spcAft>
              <a:defRPr sz="1200" b="0">
                <a:solidFill>
                  <a:srgbClr val="596373"/>
                </a:solidFill>
                <a:latin typeface="Inter"/>
              </a:defRPr>
            </a:pPr>
            <a:r>
              <a:t>U.S. first-year sample · Observational comparison · Group means do not describe every student</a:t>
            </a:r>
          </a:p>
        </p:txBody>
      </p:sp>
      <p:sp>
        <p:nvSpPr>
          <p:cNvPr id="10" name="TextBox 9"/>
          <p:cNvSpPr txBox="1"/>
          <p:nvPr/>
        </p:nvSpPr>
        <p:spPr>
          <a:xfrm>
            <a:off x="594360" y="6382512"/>
            <a:ext cx="10607040" cy="228600"/>
          </a:xfrm>
          <a:prstGeom prst="rect">
            <a:avLst/>
          </a:prstGeom>
          <a:noFill/>
        </p:spPr>
        <p:txBody>
          <a:bodyPr wrap="square" lIns="0" rIns="0" tIns="0" bIns="0" anchor="t">
            <a:spAutoFit/>
          </a:bodyPr>
          <a:lstStyle/>
          <a:p>
            <a:pPr algn="l">
              <a:lnSpc>
                <a:spcPct val="108000"/>
              </a:lnSpc>
              <a:spcBef>
                <a:spcPts val="0"/>
              </a:spcBef>
              <a:spcAft>
                <a:spcPts val="0"/>
              </a:spcAft>
              <a:defRPr sz="1050" b="0">
                <a:solidFill>
                  <a:srgbClr val="596373"/>
                </a:solidFill>
                <a:latin typeface="Inter"/>
              </a:defRPr>
            </a:pPr>
            <a:r>
              <a:t>Source: Data from Gormley et al. (2019), Table 2.</a:t>
            </a:r>
          </a:p>
        </p:txBody>
      </p:sp>
      <p:sp>
        <p:nvSpPr>
          <p:cNvPr id="11" name="TextBox 10"/>
          <p:cNvSpPr txBox="1"/>
          <p:nvPr/>
        </p:nvSpPr>
        <p:spPr>
          <a:xfrm>
            <a:off x="11192256" y="6373368"/>
            <a:ext cx="393192" cy="274320"/>
          </a:xfrm>
          <a:prstGeom prst="rect">
            <a:avLst/>
          </a:prstGeom>
          <a:noFill/>
        </p:spPr>
        <p:txBody>
          <a:bodyPr wrap="square" lIns="0" rIns="0" tIns="0" bIns="0" anchor="t">
            <a:spAutoFit/>
          </a:bodyPr>
          <a:lstStyle/>
          <a:p>
            <a:pPr algn="r">
              <a:lnSpc>
                <a:spcPct val="108000"/>
              </a:lnSpc>
              <a:spcBef>
                <a:spcPts val="0"/>
              </a:spcBef>
              <a:spcAft>
                <a:spcPts val="0"/>
              </a:spcAft>
              <a:defRPr sz="1100" b="0">
                <a:solidFill>
                  <a:srgbClr val="596373"/>
                </a:solidFill>
                <a:latin typeface="Inter"/>
              </a:defRPr>
            </a:pPr>
            <a:r>
              <a:t>02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347472"/>
            <a:ext cx="10972800" cy="228600"/>
          </a:xfrm>
          <a:prstGeom prst="rect">
            <a:avLst/>
          </a:prstGeom>
          <a:noFill/>
        </p:spPr>
        <p:txBody>
          <a:bodyPr wrap="square" lIns="0" rIns="0" tIns="0" bIns="0" anchor="t">
            <a:spAutoFit/>
          </a:bodyPr>
          <a:lstStyle/>
          <a:p>
            <a:pPr algn="l">
              <a:lnSpc>
                <a:spcPct val="108000"/>
              </a:lnSpc>
              <a:spcBef>
                <a:spcPts val="0"/>
              </a:spcBef>
              <a:spcAft>
                <a:spcPts val="0"/>
              </a:spcAft>
              <a:defRPr sz="1100" b="1">
                <a:solidFill>
                  <a:srgbClr val="6058E8"/>
                </a:solidFill>
                <a:latin typeface="Inter"/>
              </a:defRPr>
            </a:pPr>
            <a:r>
              <a:t>03 / POSSIBLE SOLUTION 1</a:t>
            </a:r>
          </a:p>
        </p:txBody>
      </p:sp>
      <p:sp>
        <p:nvSpPr>
          <p:cNvPr id="3" name="TextBox 2"/>
          <p:cNvSpPr txBox="1"/>
          <p:nvPr/>
        </p:nvSpPr>
        <p:spPr>
          <a:xfrm>
            <a:off x="594360" y="758952"/>
            <a:ext cx="10972800" cy="1024128"/>
          </a:xfrm>
          <a:prstGeom prst="rect">
            <a:avLst/>
          </a:prstGeom>
          <a:noFill/>
        </p:spPr>
        <p:txBody>
          <a:bodyPr wrap="square" lIns="0" rIns="0" tIns="0" bIns="0" anchor="t">
            <a:spAutoFit/>
          </a:bodyPr>
          <a:lstStyle/>
          <a:p>
            <a:pPr algn="l">
              <a:lnSpc>
                <a:spcPct val="108000"/>
              </a:lnSpc>
              <a:spcBef>
                <a:spcPts val="0"/>
              </a:spcBef>
              <a:spcAft>
                <a:spcPts val="0"/>
              </a:spcAft>
              <a:defRPr sz="3200" b="1">
                <a:solidFill>
                  <a:srgbClr val="18212F"/>
                </a:solidFill>
                <a:latin typeface="Inter"/>
              </a:defRPr>
            </a:pPr>
            <a:r>
              <a:t>ADHD-specific</a:t>
            </a:r>
          </a:p>
          <a:p>
            <a:pPr algn="l">
              <a:lnSpc>
                <a:spcPct val="108000"/>
              </a:lnSpc>
              <a:spcBef>
                <a:spcPts val="0"/>
              </a:spcBef>
              <a:spcAft>
                <a:spcPts val="0"/>
              </a:spcAft>
              <a:defRPr sz="3200" b="1">
                <a:solidFill>
                  <a:srgbClr val="18212F"/>
                </a:solidFill>
                <a:latin typeface="Inter"/>
              </a:defRPr>
            </a:pPr>
            <a:r>
              <a:t>executive-function coaching</a:t>
            </a:r>
          </a:p>
        </p:txBody>
      </p:sp>
      <p:sp>
        <p:nvSpPr>
          <p:cNvPr id="4" name="Rounded Rectangle 3"/>
          <p:cNvSpPr/>
          <p:nvPr/>
        </p:nvSpPr>
        <p:spPr>
          <a:xfrm>
            <a:off x="594360" y="2011680"/>
            <a:ext cx="1545336" cy="1033271"/>
          </a:xfrm>
          <a:prstGeom prst="roundRect">
            <a:avLst>
              <a:gd name="adj" fmla="val 12000"/>
            </a:avLst>
          </a:prstGeom>
          <a:solidFill>
            <a:srgbClr val="F3F2FE"/>
          </a:solidFill>
          <a:ln w="11430">
            <a:solidFill>
              <a:srgbClr val="605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2286000"/>
            <a:ext cx="1362456" cy="640080"/>
          </a:xfrm>
          <a:prstGeom prst="rect">
            <a:avLst/>
          </a:prstGeom>
          <a:noFill/>
        </p:spPr>
        <p:txBody>
          <a:bodyPr wrap="square" lIns="0" rIns="0" tIns="0" bIns="0" anchor="t">
            <a:spAutoFit/>
          </a:bodyPr>
          <a:lstStyle/>
          <a:p>
            <a:pPr algn="ctr">
              <a:lnSpc>
                <a:spcPct val="108000"/>
              </a:lnSpc>
              <a:spcBef>
                <a:spcPts val="0"/>
              </a:spcBef>
              <a:spcAft>
                <a:spcPts val="0"/>
              </a:spcAft>
              <a:defRPr sz="1800" b="1">
                <a:solidFill>
                  <a:srgbClr val="18212F"/>
                </a:solidFill>
                <a:latin typeface="Inter"/>
              </a:defRPr>
            </a:pPr>
            <a:r>
              <a:t>Weekly</a:t>
            </a:r>
          </a:p>
          <a:p>
            <a:pPr algn="ctr">
              <a:lnSpc>
                <a:spcPct val="108000"/>
              </a:lnSpc>
              <a:spcBef>
                <a:spcPts val="0"/>
              </a:spcBef>
              <a:spcAft>
                <a:spcPts val="0"/>
              </a:spcAft>
              <a:defRPr sz="1800" b="1">
                <a:solidFill>
                  <a:srgbClr val="18212F"/>
                </a:solidFill>
                <a:latin typeface="Inter"/>
              </a:defRPr>
            </a:pPr>
            <a:r>
              <a:t>support</a:t>
            </a:r>
          </a:p>
        </p:txBody>
      </p:sp>
      <p:cxnSp>
        <p:nvCxnSpPr>
          <p:cNvPr id="6" name="Connector 5"/>
          <p:cNvCxnSpPr/>
          <p:nvPr/>
        </p:nvCxnSpPr>
        <p:spPr>
          <a:xfrm>
            <a:off x="2194560" y="2532888"/>
            <a:ext cx="228600" cy="0"/>
          </a:xfrm>
          <a:prstGeom prst="line">
            <a:avLst/>
          </a:prstGeom>
          <a:ln w="14604">
            <a:solidFill>
              <a:srgbClr val="6058E8"/>
            </a:solidFill>
            <a:tailEnd type="triangle" w="sm" len="sm"/>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2487168" y="2011680"/>
            <a:ext cx="1545336" cy="1033271"/>
          </a:xfrm>
          <a:prstGeom prst="roundRect">
            <a:avLst>
              <a:gd name="adj" fmla="val 12000"/>
            </a:avLst>
          </a:prstGeom>
          <a:solidFill>
            <a:srgbClr val="FFFFFF"/>
          </a:solidFill>
          <a:ln w="11430">
            <a:solidFill>
              <a:srgbClr val="605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578608" y="2286000"/>
            <a:ext cx="1362456" cy="640080"/>
          </a:xfrm>
          <a:prstGeom prst="rect">
            <a:avLst/>
          </a:prstGeom>
          <a:noFill/>
        </p:spPr>
        <p:txBody>
          <a:bodyPr wrap="square" lIns="0" rIns="0" tIns="0" bIns="0" anchor="t">
            <a:spAutoFit/>
          </a:bodyPr>
          <a:lstStyle/>
          <a:p>
            <a:pPr algn="ctr">
              <a:lnSpc>
                <a:spcPct val="108000"/>
              </a:lnSpc>
              <a:spcBef>
                <a:spcPts val="0"/>
              </a:spcBef>
              <a:spcAft>
                <a:spcPts val="0"/>
              </a:spcAft>
              <a:defRPr sz="1800" b="1">
                <a:solidFill>
                  <a:srgbClr val="18212F"/>
                </a:solidFill>
                <a:latin typeface="Inter"/>
              </a:defRPr>
            </a:pPr>
            <a:r>
              <a:t>Planning</a:t>
            </a:r>
          </a:p>
        </p:txBody>
      </p:sp>
      <p:cxnSp>
        <p:nvCxnSpPr>
          <p:cNvPr id="9" name="Connector 8"/>
          <p:cNvCxnSpPr/>
          <p:nvPr/>
        </p:nvCxnSpPr>
        <p:spPr>
          <a:xfrm>
            <a:off x="4087368" y="2532888"/>
            <a:ext cx="228600" cy="0"/>
          </a:xfrm>
          <a:prstGeom prst="line">
            <a:avLst/>
          </a:prstGeom>
          <a:ln w="14604">
            <a:solidFill>
              <a:srgbClr val="6058E8"/>
            </a:solidFill>
            <a:tailEnd type="triangle" w="sm" len="sm"/>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4379976" y="2011680"/>
            <a:ext cx="1545336" cy="1033271"/>
          </a:xfrm>
          <a:prstGeom prst="roundRect">
            <a:avLst>
              <a:gd name="adj" fmla="val 12000"/>
            </a:avLst>
          </a:prstGeom>
          <a:solidFill>
            <a:srgbClr val="FFFFFF"/>
          </a:solidFill>
          <a:ln w="11430">
            <a:solidFill>
              <a:srgbClr val="605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71416" y="2286000"/>
            <a:ext cx="1362456" cy="640080"/>
          </a:xfrm>
          <a:prstGeom prst="rect">
            <a:avLst/>
          </a:prstGeom>
          <a:noFill/>
        </p:spPr>
        <p:txBody>
          <a:bodyPr wrap="square" lIns="0" rIns="0" tIns="0" bIns="0" anchor="t">
            <a:spAutoFit/>
          </a:bodyPr>
          <a:lstStyle/>
          <a:p>
            <a:pPr algn="ctr">
              <a:lnSpc>
                <a:spcPct val="108000"/>
              </a:lnSpc>
              <a:spcBef>
                <a:spcPts val="0"/>
              </a:spcBef>
              <a:spcAft>
                <a:spcPts val="0"/>
              </a:spcAft>
              <a:defRPr sz="1800" b="1">
                <a:solidFill>
                  <a:srgbClr val="18212F"/>
                </a:solidFill>
                <a:latin typeface="Inter"/>
              </a:defRPr>
            </a:pPr>
            <a:r>
              <a:t>Task</a:t>
            </a:r>
          </a:p>
          <a:p>
            <a:pPr algn="ctr">
              <a:lnSpc>
                <a:spcPct val="108000"/>
              </a:lnSpc>
              <a:spcBef>
                <a:spcPts val="0"/>
              </a:spcBef>
              <a:spcAft>
                <a:spcPts val="0"/>
              </a:spcAft>
              <a:defRPr sz="1800" b="1">
                <a:solidFill>
                  <a:srgbClr val="18212F"/>
                </a:solidFill>
                <a:latin typeface="Inter"/>
              </a:defRPr>
            </a:pPr>
            <a:r>
              <a:t>breakdown</a:t>
            </a:r>
          </a:p>
        </p:txBody>
      </p:sp>
      <p:cxnSp>
        <p:nvCxnSpPr>
          <p:cNvPr id="12" name="Connector 11"/>
          <p:cNvCxnSpPr/>
          <p:nvPr/>
        </p:nvCxnSpPr>
        <p:spPr>
          <a:xfrm>
            <a:off x="5980176" y="2532888"/>
            <a:ext cx="228600" cy="0"/>
          </a:xfrm>
          <a:prstGeom prst="line">
            <a:avLst/>
          </a:prstGeom>
          <a:ln w="14604">
            <a:solidFill>
              <a:srgbClr val="6058E8"/>
            </a:solidFill>
            <a:tailEnd type="triangle" w="sm" len="sm"/>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6272783" y="2011680"/>
            <a:ext cx="1545336" cy="1033271"/>
          </a:xfrm>
          <a:prstGeom prst="roundRect">
            <a:avLst>
              <a:gd name="adj" fmla="val 12000"/>
            </a:avLst>
          </a:prstGeom>
          <a:solidFill>
            <a:srgbClr val="FFFFFF"/>
          </a:solidFill>
          <a:ln w="11430">
            <a:solidFill>
              <a:srgbClr val="605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64223" y="2286000"/>
            <a:ext cx="1362456" cy="640080"/>
          </a:xfrm>
          <a:prstGeom prst="rect">
            <a:avLst/>
          </a:prstGeom>
          <a:noFill/>
        </p:spPr>
        <p:txBody>
          <a:bodyPr wrap="square" lIns="0" rIns="0" tIns="0" bIns="0" anchor="t">
            <a:spAutoFit/>
          </a:bodyPr>
          <a:lstStyle/>
          <a:p>
            <a:pPr algn="ctr">
              <a:lnSpc>
                <a:spcPct val="108000"/>
              </a:lnSpc>
              <a:spcBef>
                <a:spcPts val="0"/>
              </a:spcBef>
              <a:spcAft>
                <a:spcPts val="0"/>
              </a:spcAft>
              <a:defRPr sz="1800" b="1">
                <a:solidFill>
                  <a:srgbClr val="18212F"/>
                </a:solidFill>
                <a:latin typeface="Inter"/>
              </a:defRPr>
            </a:pPr>
            <a:r>
              <a:t>Time</a:t>
            </a:r>
          </a:p>
          <a:p>
            <a:pPr algn="ctr">
              <a:lnSpc>
                <a:spcPct val="108000"/>
              </a:lnSpc>
              <a:spcBef>
                <a:spcPts val="0"/>
              </a:spcBef>
              <a:spcAft>
                <a:spcPts val="0"/>
              </a:spcAft>
              <a:defRPr sz="1800" b="1">
                <a:solidFill>
                  <a:srgbClr val="18212F"/>
                </a:solidFill>
                <a:latin typeface="Inter"/>
              </a:defRPr>
            </a:pPr>
            <a:r>
              <a:t>management</a:t>
            </a:r>
          </a:p>
        </p:txBody>
      </p:sp>
      <p:cxnSp>
        <p:nvCxnSpPr>
          <p:cNvPr id="15" name="Connector 14"/>
          <p:cNvCxnSpPr/>
          <p:nvPr/>
        </p:nvCxnSpPr>
        <p:spPr>
          <a:xfrm>
            <a:off x="7872983" y="2532888"/>
            <a:ext cx="228600" cy="0"/>
          </a:xfrm>
          <a:prstGeom prst="line">
            <a:avLst/>
          </a:prstGeom>
          <a:ln w="14604">
            <a:solidFill>
              <a:srgbClr val="6058E8"/>
            </a:solidFill>
            <a:tailEnd type="triangle" w="sm" len="sm"/>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8165592" y="2011680"/>
            <a:ext cx="1545336" cy="1033271"/>
          </a:xfrm>
          <a:prstGeom prst="roundRect">
            <a:avLst>
              <a:gd name="adj" fmla="val 12000"/>
            </a:avLst>
          </a:prstGeom>
          <a:solidFill>
            <a:srgbClr val="FFFFFF"/>
          </a:solidFill>
          <a:ln w="11430">
            <a:solidFill>
              <a:srgbClr val="605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57031" y="2286000"/>
            <a:ext cx="1362456" cy="640080"/>
          </a:xfrm>
          <a:prstGeom prst="rect">
            <a:avLst/>
          </a:prstGeom>
          <a:noFill/>
        </p:spPr>
        <p:txBody>
          <a:bodyPr wrap="square" lIns="0" rIns="0" tIns="0" bIns="0" anchor="t">
            <a:spAutoFit/>
          </a:bodyPr>
          <a:lstStyle/>
          <a:p>
            <a:pPr algn="ctr">
              <a:lnSpc>
                <a:spcPct val="108000"/>
              </a:lnSpc>
              <a:spcBef>
                <a:spcPts val="0"/>
              </a:spcBef>
              <a:spcAft>
                <a:spcPts val="0"/>
              </a:spcAft>
              <a:defRPr sz="1800" b="1">
                <a:solidFill>
                  <a:srgbClr val="18212F"/>
                </a:solidFill>
                <a:latin typeface="Inter"/>
              </a:defRPr>
            </a:pPr>
            <a:r>
              <a:t>Accountability</a:t>
            </a:r>
          </a:p>
        </p:txBody>
      </p:sp>
      <p:cxnSp>
        <p:nvCxnSpPr>
          <p:cNvPr id="18" name="Connector 17"/>
          <p:cNvCxnSpPr/>
          <p:nvPr/>
        </p:nvCxnSpPr>
        <p:spPr>
          <a:xfrm>
            <a:off x="9765792" y="2532888"/>
            <a:ext cx="228600" cy="0"/>
          </a:xfrm>
          <a:prstGeom prst="line">
            <a:avLst/>
          </a:prstGeom>
          <a:ln w="14604">
            <a:solidFill>
              <a:srgbClr val="6058E8"/>
            </a:solidFill>
            <a:tailEnd type="triangle" w="sm" len="sm"/>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10058400" y="2011680"/>
            <a:ext cx="1545336" cy="1033271"/>
          </a:xfrm>
          <a:prstGeom prst="roundRect">
            <a:avLst>
              <a:gd name="adj" fmla="val 12000"/>
            </a:avLst>
          </a:prstGeom>
          <a:solidFill>
            <a:srgbClr val="FFFFFF"/>
          </a:solidFill>
          <a:ln w="11430">
            <a:solidFill>
              <a:srgbClr val="605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0" y="2286000"/>
            <a:ext cx="1362456" cy="640080"/>
          </a:xfrm>
          <a:prstGeom prst="rect">
            <a:avLst/>
          </a:prstGeom>
          <a:noFill/>
        </p:spPr>
        <p:txBody>
          <a:bodyPr wrap="square" lIns="0" rIns="0" tIns="0" bIns="0" anchor="t">
            <a:spAutoFit/>
          </a:bodyPr>
          <a:lstStyle/>
          <a:p>
            <a:pPr algn="ctr">
              <a:lnSpc>
                <a:spcPct val="108000"/>
              </a:lnSpc>
              <a:spcBef>
                <a:spcPts val="0"/>
              </a:spcBef>
              <a:spcAft>
                <a:spcPts val="0"/>
              </a:spcAft>
              <a:defRPr sz="1800" b="1">
                <a:solidFill>
                  <a:srgbClr val="18212F"/>
                </a:solidFill>
                <a:latin typeface="Inter"/>
              </a:defRPr>
            </a:pPr>
            <a:r>
              <a:t>Review</a:t>
            </a:r>
          </a:p>
        </p:txBody>
      </p:sp>
      <p:sp>
        <p:nvSpPr>
          <p:cNvPr id="21" name="TextBox 20"/>
          <p:cNvSpPr txBox="1"/>
          <p:nvPr/>
        </p:nvSpPr>
        <p:spPr>
          <a:xfrm>
            <a:off x="658368" y="3566160"/>
            <a:ext cx="1280160" cy="594360"/>
          </a:xfrm>
          <a:prstGeom prst="rect">
            <a:avLst/>
          </a:prstGeom>
          <a:noFill/>
        </p:spPr>
        <p:txBody>
          <a:bodyPr wrap="square" lIns="0" rIns="0" tIns="0" bIns="0" anchor="t">
            <a:spAutoFit/>
          </a:bodyPr>
          <a:lstStyle/>
          <a:p>
            <a:pPr algn="l">
              <a:lnSpc>
                <a:spcPct val="108000"/>
              </a:lnSpc>
              <a:spcBef>
                <a:spcPts val="0"/>
              </a:spcBef>
              <a:spcAft>
                <a:spcPts val="0"/>
              </a:spcAft>
              <a:defRPr sz="3400" b="1">
                <a:solidFill>
                  <a:srgbClr val="6058E8"/>
                </a:solidFill>
                <a:latin typeface="Inter"/>
              </a:defRPr>
            </a:pPr>
            <a:r>
              <a:t>250</a:t>
            </a:r>
          </a:p>
        </p:txBody>
      </p:sp>
      <p:sp>
        <p:nvSpPr>
          <p:cNvPr id="22" name="TextBox 21"/>
          <p:cNvSpPr txBox="1"/>
          <p:nvPr/>
        </p:nvSpPr>
        <p:spPr>
          <a:xfrm>
            <a:off x="2066543" y="3593592"/>
            <a:ext cx="5093208" cy="612648"/>
          </a:xfrm>
          <a:prstGeom prst="rect">
            <a:avLst/>
          </a:prstGeom>
          <a:noFill/>
        </p:spPr>
        <p:txBody>
          <a:bodyPr wrap="square" lIns="0" rIns="0" tIns="0" bIns="0" anchor="t">
            <a:spAutoFit/>
          </a:bodyPr>
          <a:lstStyle/>
          <a:p>
            <a:pPr algn="l">
              <a:lnSpc>
                <a:spcPct val="108000"/>
              </a:lnSpc>
              <a:spcBef>
                <a:spcPts val="0"/>
              </a:spcBef>
              <a:spcAft>
                <a:spcPts val="0"/>
              </a:spcAft>
              <a:defRPr sz="2000" b="0">
                <a:solidFill>
                  <a:srgbClr val="18212F"/>
                </a:solidFill>
                <a:latin typeface="Inter"/>
              </a:defRPr>
            </a:pPr>
            <a:r>
              <a:t>students in the ACCESS</a:t>
            </a:r>
          </a:p>
          <a:p>
            <a:pPr algn="l">
              <a:lnSpc>
                <a:spcPct val="108000"/>
              </a:lnSpc>
              <a:spcBef>
                <a:spcPts val="0"/>
              </a:spcBef>
              <a:spcAft>
                <a:spcPts val="0"/>
              </a:spcAft>
              <a:defRPr sz="2000" b="0">
                <a:solidFill>
                  <a:srgbClr val="18212F"/>
                </a:solidFill>
                <a:latin typeface="Inter"/>
              </a:defRPr>
            </a:pPr>
            <a:r>
              <a:t>randomized trial</a:t>
            </a:r>
          </a:p>
        </p:txBody>
      </p:sp>
      <p:sp>
        <p:nvSpPr>
          <p:cNvPr id="23" name="TextBox 22"/>
          <p:cNvSpPr txBox="1"/>
          <p:nvPr/>
        </p:nvSpPr>
        <p:spPr>
          <a:xfrm>
            <a:off x="658368" y="4407408"/>
            <a:ext cx="6949440" cy="685800"/>
          </a:xfrm>
          <a:prstGeom prst="rect">
            <a:avLst/>
          </a:prstGeom>
          <a:noFill/>
        </p:spPr>
        <p:txBody>
          <a:bodyPr wrap="square" lIns="0" rIns="0" tIns="0" bIns="0" anchor="t">
            <a:spAutoFit/>
          </a:bodyPr>
          <a:lstStyle/>
          <a:p>
            <a:pPr algn="l">
              <a:lnSpc>
                <a:spcPct val="108000"/>
              </a:lnSpc>
              <a:spcBef>
                <a:spcPts val="0"/>
              </a:spcBef>
              <a:spcAft>
                <a:spcPts val="0"/>
              </a:spcAft>
              <a:defRPr sz="2200" b="1">
                <a:solidFill>
                  <a:srgbClr val="18212F"/>
                </a:solidFill>
                <a:latin typeface="Inter"/>
              </a:defRPr>
            </a:pPr>
            <a:r>
              <a:t>CBT + mentoring improved</a:t>
            </a:r>
          </a:p>
          <a:p>
            <a:pPr algn="l">
              <a:lnSpc>
                <a:spcPct val="108000"/>
              </a:lnSpc>
              <a:spcBef>
                <a:spcPts val="0"/>
              </a:spcBef>
              <a:spcAft>
                <a:spcPts val="0"/>
              </a:spcAft>
              <a:defRPr sz="2200" b="1">
                <a:solidFill>
                  <a:srgbClr val="18212F"/>
                </a:solidFill>
                <a:latin typeface="Inter"/>
              </a:defRPr>
            </a:pPr>
            <a:r>
              <a:t>executive functioning.</a:t>
            </a:r>
          </a:p>
        </p:txBody>
      </p:sp>
      <p:sp>
        <p:nvSpPr>
          <p:cNvPr id="24" name="TextBox 23"/>
          <p:cNvSpPr txBox="1"/>
          <p:nvPr/>
        </p:nvSpPr>
        <p:spPr>
          <a:xfrm>
            <a:off x="658368" y="5266944"/>
            <a:ext cx="6876288" cy="548640"/>
          </a:xfrm>
          <a:prstGeom prst="rect">
            <a:avLst/>
          </a:prstGeom>
          <a:noFill/>
        </p:spPr>
        <p:txBody>
          <a:bodyPr wrap="square" lIns="0" rIns="0" tIns="0" bIns="0" anchor="t">
            <a:spAutoFit/>
          </a:bodyPr>
          <a:lstStyle/>
          <a:p>
            <a:pPr algn="l">
              <a:lnSpc>
                <a:spcPct val="108000"/>
              </a:lnSpc>
              <a:spcBef>
                <a:spcPts val="0"/>
              </a:spcBef>
              <a:spcAft>
                <a:spcPts val="0"/>
              </a:spcAft>
              <a:defRPr sz="1800" b="0">
                <a:solidFill>
                  <a:srgbClr val="596373"/>
                </a:solidFill>
                <a:latin typeface="Inter"/>
              </a:defRPr>
            </a:pPr>
            <a:r>
              <a:t>Coaching use was also linked to GPA gains</a:t>
            </a:r>
          </a:p>
          <a:p>
            <a:pPr algn="l">
              <a:lnSpc>
                <a:spcPct val="108000"/>
              </a:lnSpc>
              <a:spcBef>
                <a:spcPts val="0"/>
              </a:spcBef>
              <a:spcAft>
                <a:spcPts val="0"/>
              </a:spcAft>
              <a:defRPr sz="1800" b="0">
                <a:solidFill>
                  <a:srgbClr val="596373"/>
                </a:solidFill>
                <a:latin typeface="Inter"/>
              </a:defRPr>
            </a:pPr>
            <a:r>
              <a:t>at a specialist campus.</a:t>
            </a:r>
          </a:p>
        </p:txBody>
      </p:sp>
      <p:sp>
        <p:nvSpPr>
          <p:cNvPr id="25" name="Rounded Rectangle 24"/>
          <p:cNvSpPr/>
          <p:nvPr/>
        </p:nvSpPr>
        <p:spPr>
          <a:xfrm>
            <a:off x="8302752" y="3456432"/>
            <a:ext cx="3273552" cy="1161288"/>
          </a:xfrm>
          <a:prstGeom prst="roundRect">
            <a:avLst>
              <a:gd name="adj" fmla="val 12000"/>
            </a:avLst>
          </a:prstGeom>
          <a:solidFill>
            <a:srgbClr val="FFFFFF"/>
          </a:solidFill>
          <a:ln w="11430">
            <a:solidFill>
              <a:srgbClr val="DCDD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494776" y="3621024"/>
            <a:ext cx="2834640" cy="210312"/>
          </a:xfrm>
          <a:prstGeom prst="rect">
            <a:avLst/>
          </a:prstGeom>
          <a:noFill/>
        </p:spPr>
        <p:txBody>
          <a:bodyPr wrap="square" lIns="0" rIns="0" tIns="0" bIns="0" anchor="t">
            <a:spAutoFit/>
          </a:bodyPr>
          <a:lstStyle/>
          <a:p>
            <a:pPr algn="l">
              <a:lnSpc>
                <a:spcPct val="108000"/>
              </a:lnSpc>
              <a:spcBef>
                <a:spcPts val="0"/>
              </a:spcBef>
              <a:spcAft>
                <a:spcPts val="0"/>
              </a:spcAft>
              <a:defRPr sz="1100" b="1">
                <a:solidFill>
                  <a:srgbClr val="6058E8"/>
                </a:solidFill>
                <a:latin typeface="Inter"/>
              </a:defRPr>
            </a:pPr>
            <a:r>
              <a:t>STRENGTH</a:t>
            </a:r>
          </a:p>
        </p:txBody>
      </p:sp>
      <p:sp>
        <p:nvSpPr>
          <p:cNvPr id="27" name="TextBox 26"/>
          <p:cNvSpPr txBox="1"/>
          <p:nvPr/>
        </p:nvSpPr>
        <p:spPr>
          <a:xfrm>
            <a:off x="8494776" y="3931920"/>
            <a:ext cx="2862072" cy="557784"/>
          </a:xfrm>
          <a:prstGeom prst="rect">
            <a:avLst/>
          </a:prstGeom>
          <a:noFill/>
        </p:spPr>
        <p:txBody>
          <a:bodyPr wrap="square" lIns="0" rIns="0" tIns="0" bIns="0" anchor="t">
            <a:spAutoFit/>
          </a:bodyPr>
          <a:lstStyle/>
          <a:p>
            <a:pPr algn="l">
              <a:lnSpc>
                <a:spcPct val="108000"/>
              </a:lnSpc>
              <a:spcBef>
                <a:spcPts val="0"/>
              </a:spcBef>
              <a:spcAft>
                <a:spcPts val="0"/>
              </a:spcAft>
              <a:defRPr sz="1800" b="0">
                <a:solidFill>
                  <a:srgbClr val="18212F"/>
                </a:solidFill>
                <a:latin typeface="Inter"/>
              </a:defRPr>
            </a:pPr>
            <a:r>
              <a:t>Targets planning</a:t>
            </a:r>
          </a:p>
          <a:p>
            <a:pPr algn="l">
              <a:lnSpc>
                <a:spcPct val="108000"/>
              </a:lnSpc>
              <a:spcBef>
                <a:spcPts val="0"/>
              </a:spcBef>
              <a:spcAft>
                <a:spcPts val="0"/>
              </a:spcAft>
              <a:defRPr sz="1800" b="0">
                <a:solidFill>
                  <a:srgbClr val="18212F"/>
                </a:solidFill>
                <a:latin typeface="Inter"/>
              </a:defRPr>
            </a:pPr>
            <a:r>
              <a:t>and self-regulation.</a:t>
            </a:r>
          </a:p>
        </p:txBody>
      </p:sp>
      <p:sp>
        <p:nvSpPr>
          <p:cNvPr id="28" name="Rounded Rectangle 27"/>
          <p:cNvSpPr/>
          <p:nvPr/>
        </p:nvSpPr>
        <p:spPr>
          <a:xfrm>
            <a:off x="8302752" y="4782312"/>
            <a:ext cx="3273552" cy="1161288"/>
          </a:xfrm>
          <a:prstGeom prst="roundRect">
            <a:avLst>
              <a:gd name="adj" fmla="val 12000"/>
            </a:avLst>
          </a:prstGeom>
          <a:solidFill>
            <a:srgbClr val="FFFFFF"/>
          </a:solidFill>
          <a:ln w="11430">
            <a:solidFill>
              <a:srgbClr val="DCDD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494776" y="4946904"/>
            <a:ext cx="2834640" cy="210312"/>
          </a:xfrm>
          <a:prstGeom prst="rect">
            <a:avLst/>
          </a:prstGeom>
          <a:noFill/>
        </p:spPr>
        <p:txBody>
          <a:bodyPr wrap="square" lIns="0" rIns="0" tIns="0" bIns="0" anchor="t">
            <a:spAutoFit/>
          </a:bodyPr>
          <a:lstStyle/>
          <a:p>
            <a:pPr algn="l">
              <a:lnSpc>
                <a:spcPct val="108000"/>
              </a:lnSpc>
              <a:spcBef>
                <a:spcPts val="0"/>
              </a:spcBef>
              <a:spcAft>
                <a:spcPts val="0"/>
              </a:spcAft>
              <a:defRPr sz="1100" b="1">
                <a:solidFill>
                  <a:srgbClr val="6058E8"/>
                </a:solidFill>
                <a:latin typeface="Inter"/>
              </a:defRPr>
            </a:pPr>
            <a:r>
              <a:t>LIMITATION</a:t>
            </a:r>
          </a:p>
        </p:txBody>
      </p:sp>
      <p:sp>
        <p:nvSpPr>
          <p:cNvPr id="30" name="TextBox 29"/>
          <p:cNvSpPr txBox="1"/>
          <p:nvPr/>
        </p:nvSpPr>
        <p:spPr>
          <a:xfrm>
            <a:off x="8494776" y="5257800"/>
            <a:ext cx="2862072" cy="548640"/>
          </a:xfrm>
          <a:prstGeom prst="rect">
            <a:avLst/>
          </a:prstGeom>
          <a:noFill/>
        </p:spPr>
        <p:txBody>
          <a:bodyPr wrap="square" lIns="0" rIns="0" tIns="0" bIns="0" anchor="t">
            <a:spAutoFit/>
          </a:bodyPr>
          <a:lstStyle/>
          <a:p>
            <a:pPr algn="l">
              <a:lnSpc>
                <a:spcPct val="108000"/>
              </a:lnSpc>
              <a:spcBef>
                <a:spcPts val="0"/>
              </a:spcBef>
              <a:spcAft>
                <a:spcPts val="0"/>
              </a:spcAft>
              <a:defRPr sz="1800" b="0">
                <a:solidFill>
                  <a:srgbClr val="18212F"/>
                </a:solidFill>
                <a:latin typeface="Inter"/>
              </a:defRPr>
            </a:pPr>
            <a:r>
              <a:t>Needs trained staff</a:t>
            </a:r>
          </a:p>
          <a:p>
            <a:pPr algn="l">
              <a:lnSpc>
                <a:spcPct val="108000"/>
              </a:lnSpc>
              <a:spcBef>
                <a:spcPts val="0"/>
              </a:spcBef>
              <a:spcAft>
                <a:spcPts val="0"/>
              </a:spcAft>
              <a:defRPr sz="1800" b="0">
                <a:solidFill>
                  <a:srgbClr val="18212F"/>
                </a:solidFill>
                <a:latin typeface="Inter"/>
              </a:defRPr>
            </a:pPr>
            <a:r>
              <a:t>and recurring time.</a:t>
            </a:r>
          </a:p>
        </p:txBody>
      </p:sp>
      <p:sp>
        <p:nvSpPr>
          <p:cNvPr id="31" name="TextBox 30"/>
          <p:cNvSpPr txBox="1"/>
          <p:nvPr/>
        </p:nvSpPr>
        <p:spPr>
          <a:xfrm>
            <a:off x="594360" y="6382512"/>
            <a:ext cx="10652760" cy="228600"/>
          </a:xfrm>
          <a:prstGeom prst="rect">
            <a:avLst/>
          </a:prstGeom>
          <a:noFill/>
        </p:spPr>
        <p:txBody>
          <a:bodyPr wrap="square" lIns="0" rIns="0" tIns="0" bIns="0" anchor="t">
            <a:spAutoFit/>
          </a:bodyPr>
          <a:lstStyle/>
          <a:p>
            <a:pPr algn="l">
              <a:lnSpc>
                <a:spcPct val="108000"/>
              </a:lnSpc>
              <a:spcBef>
                <a:spcPts val="0"/>
              </a:spcBef>
              <a:spcAft>
                <a:spcPts val="0"/>
              </a:spcAft>
              <a:defRPr sz="1050" b="0">
                <a:solidFill>
                  <a:srgbClr val="596373"/>
                </a:solidFill>
                <a:latin typeface="Inter"/>
              </a:defRPr>
            </a:pPr>
            <a:r>
              <a:t>(Anastopoulos et al., 2021; DuPaul et al., 2017)</a:t>
            </a:r>
          </a:p>
        </p:txBody>
      </p:sp>
      <p:sp>
        <p:nvSpPr>
          <p:cNvPr id="32" name="TextBox 31"/>
          <p:cNvSpPr txBox="1"/>
          <p:nvPr/>
        </p:nvSpPr>
        <p:spPr>
          <a:xfrm>
            <a:off x="11192256" y="6373368"/>
            <a:ext cx="393192" cy="274320"/>
          </a:xfrm>
          <a:prstGeom prst="rect">
            <a:avLst/>
          </a:prstGeom>
          <a:noFill/>
        </p:spPr>
        <p:txBody>
          <a:bodyPr wrap="square" lIns="0" rIns="0" tIns="0" bIns="0" anchor="t">
            <a:spAutoFit/>
          </a:bodyPr>
          <a:lstStyle/>
          <a:p>
            <a:pPr algn="r">
              <a:lnSpc>
                <a:spcPct val="108000"/>
              </a:lnSpc>
              <a:spcBef>
                <a:spcPts val="0"/>
              </a:spcBef>
              <a:spcAft>
                <a:spcPts val="0"/>
              </a:spcAft>
              <a:defRPr sz="1100" b="0">
                <a:solidFill>
                  <a:srgbClr val="596373"/>
                </a:solidFill>
                <a:latin typeface="Inter"/>
              </a:defRPr>
            </a:pPr>
            <a:r>
              <a:t>03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347472"/>
            <a:ext cx="10972800" cy="228600"/>
          </a:xfrm>
          <a:prstGeom prst="rect">
            <a:avLst/>
          </a:prstGeom>
          <a:noFill/>
        </p:spPr>
        <p:txBody>
          <a:bodyPr wrap="square" lIns="0" rIns="0" tIns="0" bIns="0" anchor="t">
            <a:spAutoFit/>
          </a:bodyPr>
          <a:lstStyle/>
          <a:p>
            <a:pPr algn="l">
              <a:lnSpc>
                <a:spcPct val="108000"/>
              </a:lnSpc>
              <a:spcBef>
                <a:spcPts val="0"/>
              </a:spcBef>
              <a:spcAft>
                <a:spcPts val="0"/>
              </a:spcAft>
              <a:defRPr sz="1100" b="1">
                <a:solidFill>
                  <a:srgbClr val="6058E8"/>
                </a:solidFill>
                <a:latin typeface="Inter"/>
              </a:defRPr>
            </a:pPr>
            <a:r>
              <a:t>04 / POSSIBLE SOLUTION 2</a:t>
            </a:r>
          </a:p>
        </p:txBody>
      </p:sp>
      <p:sp>
        <p:nvSpPr>
          <p:cNvPr id="3" name="TextBox 2"/>
          <p:cNvSpPr txBox="1"/>
          <p:nvPr/>
        </p:nvSpPr>
        <p:spPr>
          <a:xfrm>
            <a:off x="594360" y="758952"/>
            <a:ext cx="10972800" cy="1024128"/>
          </a:xfrm>
          <a:prstGeom prst="rect">
            <a:avLst/>
          </a:prstGeom>
          <a:noFill/>
        </p:spPr>
        <p:txBody>
          <a:bodyPr wrap="square" lIns="0" rIns="0" tIns="0" bIns="0" anchor="t">
            <a:spAutoFit/>
          </a:bodyPr>
          <a:lstStyle/>
          <a:p>
            <a:pPr algn="l">
              <a:lnSpc>
                <a:spcPct val="108000"/>
              </a:lnSpc>
              <a:spcBef>
                <a:spcPts val="0"/>
              </a:spcBef>
              <a:spcAft>
                <a:spcPts val="0"/>
              </a:spcAft>
              <a:defRPr sz="3200" b="1">
                <a:solidFill>
                  <a:srgbClr val="18212F"/>
                </a:solidFill>
                <a:latin typeface="Inter"/>
              </a:defRPr>
            </a:pPr>
            <a:r>
              <a:t>An integrated ADHD</a:t>
            </a:r>
          </a:p>
          <a:p>
            <a:pPr algn="l">
              <a:lnSpc>
                <a:spcPct val="108000"/>
              </a:lnSpc>
              <a:spcBef>
                <a:spcPts val="0"/>
              </a:spcBef>
              <a:spcAft>
                <a:spcPts val="0"/>
              </a:spcAft>
              <a:defRPr sz="3200" b="1">
                <a:solidFill>
                  <a:srgbClr val="18212F"/>
                </a:solidFill>
                <a:latin typeface="Inter"/>
              </a:defRPr>
            </a:pPr>
            <a:r>
              <a:t>support system</a:t>
            </a:r>
          </a:p>
        </p:txBody>
      </p:sp>
      <p:sp>
        <p:nvSpPr>
          <p:cNvPr id="4" name="Rounded Rectangle 3"/>
          <p:cNvSpPr/>
          <p:nvPr/>
        </p:nvSpPr>
        <p:spPr>
          <a:xfrm>
            <a:off x="594360" y="2020824"/>
            <a:ext cx="2350008" cy="1271016"/>
          </a:xfrm>
          <a:prstGeom prst="roundRect">
            <a:avLst>
              <a:gd name="adj" fmla="val 12000"/>
            </a:avLst>
          </a:prstGeom>
          <a:solidFill>
            <a:srgbClr val="FFFFFF"/>
          </a:solidFill>
          <a:ln w="11430">
            <a:solidFill>
              <a:srgbClr val="605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40664" y="2194560"/>
            <a:ext cx="2075688" cy="603504"/>
          </a:xfrm>
          <a:prstGeom prst="rect">
            <a:avLst/>
          </a:prstGeom>
          <a:noFill/>
        </p:spPr>
        <p:txBody>
          <a:bodyPr wrap="square" lIns="0" rIns="0" tIns="0" bIns="0" anchor="t">
            <a:spAutoFit/>
          </a:bodyPr>
          <a:lstStyle/>
          <a:p>
            <a:pPr algn="l">
              <a:lnSpc>
                <a:spcPct val="108000"/>
              </a:lnSpc>
              <a:spcBef>
                <a:spcPts val="0"/>
              </a:spcBef>
              <a:spcAft>
                <a:spcPts val="0"/>
              </a:spcAft>
              <a:defRPr sz="2100" b="1">
                <a:solidFill>
                  <a:srgbClr val="18212F"/>
                </a:solidFill>
                <a:latin typeface="Inter"/>
              </a:defRPr>
            </a:pPr>
            <a:r>
              <a:t>Easy access</a:t>
            </a:r>
          </a:p>
        </p:txBody>
      </p:sp>
      <p:sp>
        <p:nvSpPr>
          <p:cNvPr id="6" name="TextBox 5"/>
          <p:cNvSpPr txBox="1"/>
          <p:nvPr/>
        </p:nvSpPr>
        <p:spPr>
          <a:xfrm>
            <a:off x="740664" y="2944368"/>
            <a:ext cx="2075688" cy="274320"/>
          </a:xfrm>
          <a:prstGeom prst="rect">
            <a:avLst/>
          </a:prstGeom>
          <a:noFill/>
        </p:spPr>
        <p:txBody>
          <a:bodyPr wrap="square" lIns="0" rIns="0" tIns="0" bIns="0" anchor="t">
            <a:spAutoFit/>
          </a:bodyPr>
          <a:lstStyle/>
          <a:p>
            <a:pPr algn="l">
              <a:lnSpc>
                <a:spcPct val="108000"/>
              </a:lnSpc>
              <a:spcBef>
                <a:spcPts val="0"/>
              </a:spcBef>
              <a:spcAft>
                <a:spcPts val="0"/>
              </a:spcAft>
              <a:defRPr sz="1250" b="0">
                <a:solidFill>
                  <a:srgbClr val="596373"/>
                </a:solidFill>
                <a:latin typeface="Inter"/>
              </a:defRPr>
            </a:pPr>
            <a:r>
              <a:t>One clear entry point</a:t>
            </a:r>
          </a:p>
        </p:txBody>
      </p:sp>
      <p:cxnSp>
        <p:nvCxnSpPr>
          <p:cNvPr id="7" name="Connector 6"/>
          <p:cNvCxnSpPr/>
          <p:nvPr/>
        </p:nvCxnSpPr>
        <p:spPr>
          <a:xfrm>
            <a:off x="3035808" y="2660904"/>
            <a:ext cx="329183" cy="0"/>
          </a:xfrm>
          <a:prstGeom prst="line">
            <a:avLst/>
          </a:prstGeom>
          <a:ln w="14604">
            <a:solidFill>
              <a:srgbClr val="6058E8"/>
            </a:solidFill>
            <a:tailEnd type="triangle" w="sm" len="sm"/>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3474720" y="2020824"/>
            <a:ext cx="2350008" cy="1271016"/>
          </a:xfrm>
          <a:prstGeom prst="roundRect">
            <a:avLst>
              <a:gd name="adj" fmla="val 12000"/>
            </a:avLst>
          </a:prstGeom>
          <a:solidFill>
            <a:srgbClr val="FFFFFF"/>
          </a:solidFill>
          <a:ln w="11430">
            <a:solidFill>
              <a:srgbClr val="605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21024" y="2194560"/>
            <a:ext cx="2075688" cy="603504"/>
          </a:xfrm>
          <a:prstGeom prst="rect">
            <a:avLst/>
          </a:prstGeom>
          <a:noFill/>
        </p:spPr>
        <p:txBody>
          <a:bodyPr wrap="square" lIns="0" rIns="0" tIns="0" bIns="0" anchor="t">
            <a:spAutoFit/>
          </a:bodyPr>
          <a:lstStyle/>
          <a:p>
            <a:pPr algn="l">
              <a:lnSpc>
                <a:spcPct val="108000"/>
              </a:lnSpc>
              <a:spcBef>
                <a:spcPts val="0"/>
              </a:spcBef>
              <a:spcAft>
                <a:spcPts val="0"/>
              </a:spcAft>
              <a:defRPr sz="2100" b="1">
                <a:solidFill>
                  <a:srgbClr val="18212F"/>
                </a:solidFill>
                <a:latin typeface="Inter"/>
              </a:defRPr>
            </a:pPr>
            <a:r>
              <a:t>Accommodations</a:t>
            </a:r>
          </a:p>
        </p:txBody>
      </p:sp>
      <p:sp>
        <p:nvSpPr>
          <p:cNvPr id="10" name="TextBox 9"/>
          <p:cNvSpPr txBox="1"/>
          <p:nvPr/>
        </p:nvSpPr>
        <p:spPr>
          <a:xfrm>
            <a:off x="3621024" y="2944368"/>
            <a:ext cx="2075688" cy="274320"/>
          </a:xfrm>
          <a:prstGeom prst="rect">
            <a:avLst/>
          </a:prstGeom>
          <a:noFill/>
        </p:spPr>
        <p:txBody>
          <a:bodyPr wrap="square" lIns="0" rIns="0" tIns="0" bIns="0" anchor="t">
            <a:spAutoFit/>
          </a:bodyPr>
          <a:lstStyle/>
          <a:p>
            <a:pPr algn="l">
              <a:lnSpc>
                <a:spcPct val="108000"/>
              </a:lnSpc>
              <a:spcBef>
                <a:spcPts val="0"/>
              </a:spcBef>
              <a:spcAft>
                <a:spcPts val="0"/>
              </a:spcAft>
              <a:defRPr sz="1250" b="0">
                <a:solidFill>
                  <a:srgbClr val="596373"/>
                </a:solidFill>
                <a:latin typeface="Inter"/>
              </a:defRPr>
            </a:pPr>
            <a:r>
              <a:t>Individual adjustments</a:t>
            </a:r>
          </a:p>
        </p:txBody>
      </p:sp>
      <p:cxnSp>
        <p:nvCxnSpPr>
          <p:cNvPr id="11" name="Connector 10"/>
          <p:cNvCxnSpPr/>
          <p:nvPr/>
        </p:nvCxnSpPr>
        <p:spPr>
          <a:xfrm>
            <a:off x="5916168" y="2660904"/>
            <a:ext cx="329184" cy="0"/>
          </a:xfrm>
          <a:prstGeom prst="line">
            <a:avLst/>
          </a:prstGeom>
          <a:ln w="14604">
            <a:solidFill>
              <a:srgbClr val="6058E8"/>
            </a:solidFill>
            <a:tailEnd type="triangle" w="sm" len="sm"/>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6355080" y="2020824"/>
            <a:ext cx="2350008" cy="1271016"/>
          </a:xfrm>
          <a:prstGeom prst="roundRect">
            <a:avLst>
              <a:gd name="adj" fmla="val 12000"/>
            </a:avLst>
          </a:prstGeom>
          <a:solidFill>
            <a:srgbClr val="FFFFFF"/>
          </a:solidFill>
          <a:ln w="11430">
            <a:solidFill>
              <a:srgbClr val="605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01384" y="2194560"/>
            <a:ext cx="2075688" cy="603504"/>
          </a:xfrm>
          <a:prstGeom prst="rect">
            <a:avLst/>
          </a:prstGeom>
          <a:noFill/>
        </p:spPr>
        <p:txBody>
          <a:bodyPr wrap="square" lIns="0" rIns="0" tIns="0" bIns="0" anchor="t">
            <a:spAutoFit/>
          </a:bodyPr>
          <a:lstStyle/>
          <a:p>
            <a:pPr algn="l">
              <a:lnSpc>
                <a:spcPct val="108000"/>
              </a:lnSpc>
              <a:spcBef>
                <a:spcPts val="0"/>
              </a:spcBef>
              <a:spcAft>
                <a:spcPts val="0"/>
              </a:spcAft>
              <a:defRPr sz="2100" b="1">
                <a:solidFill>
                  <a:srgbClr val="18212F"/>
                </a:solidFill>
                <a:latin typeface="Inter"/>
              </a:defRPr>
            </a:pPr>
            <a:r>
              <a:t>Coaching /</a:t>
            </a:r>
          </a:p>
          <a:p>
            <a:pPr algn="l">
              <a:lnSpc>
                <a:spcPct val="108000"/>
              </a:lnSpc>
              <a:spcBef>
                <a:spcPts val="0"/>
              </a:spcBef>
              <a:spcAft>
                <a:spcPts val="0"/>
              </a:spcAft>
              <a:defRPr sz="2100" b="1">
                <a:solidFill>
                  <a:srgbClr val="18212F"/>
                </a:solidFill>
                <a:latin typeface="Inter"/>
              </a:defRPr>
            </a:pPr>
            <a:r>
              <a:t>mentoring</a:t>
            </a:r>
          </a:p>
        </p:txBody>
      </p:sp>
      <p:sp>
        <p:nvSpPr>
          <p:cNvPr id="14" name="TextBox 13"/>
          <p:cNvSpPr txBox="1"/>
          <p:nvPr/>
        </p:nvSpPr>
        <p:spPr>
          <a:xfrm>
            <a:off x="6501384" y="2944368"/>
            <a:ext cx="2075688" cy="274320"/>
          </a:xfrm>
          <a:prstGeom prst="rect">
            <a:avLst/>
          </a:prstGeom>
          <a:noFill/>
        </p:spPr>
        <p:txBody>
          <a:bodyPr wrap="square" lIns="0" rIns="0" tIns="0" bIns="0" anchor="t">
            <a:spAutoFit/>
          </a:bodyPr>
          <a:lstStyle/>
          <a:p>
            <a:pPr algn="l">
              <a:lnSpc>
                <a:spcPct val="108000"/>
              </a:lnSpc>
              <a:spcBef>
                <a:spcPts val="0"/>
              </a:spcBef>
              <a:spcAft>
                <a:spcPts val="0"/>
              </a:spcAft>
              <a:defRPr sz="1250" b="0">
                <a:solidFill>
                  <a:srgbClr val="596373"/>
                </a:solidFill>
                <a:latin typeface="Inter"/>
              </a:defRPr>
            </a:pPr>
            <a:r>
              <a:t>Continuing skills support</a:t>
            </a:r>
          </a:p>
        </p:txBody>
      </p:sp>
      <p:cxnSp>
        <p:nvCxnSpPr>
          <p:cNvPr id="15" name="Connector 14"/>
          <p:cNvCxnSpPr/>
          <p:nvPr/>
        </p:nvCxnSpPr>
        <p:spPr>
          <a:xfrm>
            <a:off x="8796528" y="2660904"/>
            <a:ext cx="329184" cy="0"/>
          </a:xfrm>
          <a:prstGeom prst="line">
            <a:avLst/>
          </a:prstGeom>
          <a:ln w="14604">
            <a:solidFill>
              <a:srgbClr val="6058E8"/>
            </a:solidFill>
            <a:tailEnd type="triangle" w="sm" len="sm"/>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9235440" y="2020824"/>
            <a:ext cx="2350008" cy="1271016"/>
          </a:xfrm>
          <a:prstGeom prst="roundRect">
            <a:avLst>
              <a:gd name="adj" fmla="val 12000"/>
            </a:avLst>
          </a:prstGeom>
          <a:solidFill>
            <a:srgbClr val="FFFFFF"/>
          </a:solidFill>
          <a:ln w="11430">
            <a:solidFill>
              <a:srgbClr val="605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381744" y="2194560"/>
            <a:ext cx="2075688" cy="603504"/>
          </a:xfrm>
          <a:prstGeom prst="rect">
            <a:avLst/>
          </a:prstGeom>
          <a:noFill/>
        </p:spPr>
        <p:txBody>
          <a:bodyPr wrap="square" lIns="0" rIns="0" tIns="0" bIns="0" anchor="t">
            <a:spAutoFit/>
          </a:bodyPr>
          <a:lstStyle/>
          <a:p>
            <a:pPr algn="l">
              <a:lnSpc>
                <a:spcPct val="108000"/>
              </a:lnSpc>
              <a:spcBef>
                <a:spcPts val="0"/>
              </a:spcBef>
              <a:spcAft>
                <a:spcPts val="0"/>
              </a:spcAft>
              <a:defRPr sz="2100" b="1">
                <a:solidFill>
                  <a:srgbClr val="18212F"/>
                </a:solidFill>
                <a:latin typeface="Inter"/>
              </a:defRPr>
            </a:pPr>
            <a:r>
              <a:t>Ongoing</a:t>
            </a:r>
          </a:p>
          <a:p>
            <a:pPr algn="l">
              <a:lnSpc>
                <a:spcPct val="108000"/>
              </a:lnSpc>
              <a:spcBef>
                <a:spcPts val="0"/>
              </a:spcBef>
              <a:spcAft>
                <a:spcPts val="0"/>
              </a:spcAft>
              <a:defRPr sz="2100" b="1">
                <a:solidFill>
                  <a:srgbClr val="18212F"/>
                </a:solidFill>
                <a:latin typeface="Inter"/>
              </a:defRPr>
            </a:pPr>
            <a:r>
              <a:t>follow-up</a:t>
            </a:r>
          </a:p>
        </p:txBody>
      </p:sp>
      <p:sp>
        <p:nvSpPr>
          <p:cNvPr id="18" name="TextBox 17"/>
          <p:cNvSpPr txBox="1"/>
          <p:nvPr/>
        </p:nvSpPr>
        <p:spPr>
          <a:xfrm>
            <a:off x="9381744" y="2944368"/>
            <a:ext cx="2075688" cy="274320"/>
          </a:xfrm>
          <a:prstGeom prst="rect">
            <a:avLst/>
          </a:prstGeom>
          <a:noFill/>
        </p:spPr>
        <p:txBody>
          <a:bodyPr wrap="square" lIns="0" rIns="0" tIns="0" bIns="0" anchor="t">
            <a:spAutoFit/>
          </a:bodyPr>
          <a:lstStyle/>
          <a:p>
            <a:pPr algn="l">
              <a:lnSpc>
                <a:spcPct val="108000"/>
              </a:lnSpc>
              <a:spcBef>
                <a:spcPts val="0"/>
              </a:spcBef>
              <a:spcAft>
                <a:spcPts val="0"/>
              </a:spcAft>
              <a:defRPr sz="1250" b="0">
                <a:solidFill>
                  <a:srgbClr val="596373"/>
                </a:solidFill>
                <a:latin typeface="Inter"/>
              </a:defRPr>
            </a:pPr>
            <a:r>
              <a:t>Review changing needs</a:t>
            </a:r>
          </a:p>
        </p:txBody>
      </p:sp>
      <p:sp>
        <p:nvSpPr>
          <p:cNvPr id="19" name="TextBox 18"/>
          <p:cNvSpPr txBox="1"/>
          <p:nvPr/>
        </p:nvSpPr>
        <p:spPr>
          <a:xfrm>
            <a:off x="667512" y="3502152"/>
            <a:ext cx="10789920" cy="301752"/>
          </a:xfrm>
          <a:prstGeom prst="rect">
            <a:avLst/>
          </a:prstGeom>
          <a:noFill/>
        </p:spPr>
        <p:txBody>
          <a:bodyPr wrap="square" lIns="0" rIns="0" tIns="0" bIns="0" anchor="t">
            <a:spAutoFit/>
          </a:bodyPr>
          <a:lstStyle/>
          <a:p>
            <a:pPr algn="l">
              <a:lnSpc>
                <a:spcPct val="108000"/>
              </a:lnSpc>
              <a:spcBef>
                <a:spcPts val="0"/>
              </a:spcBef>
              <a:spcAft>
                <a:spcPts val="0"/>
              </a:spcAft>
              <a:defRPr sz="1800" b="0">
                <a:solidFill>
                  <a:srgbClr val="596373"/>
                </a:solidFill>
                <a:latin typeface="Inter"/>
              </a:defRPr>
            </a:pPr>
            <a:r>
              <a:t>Faculty awareness  ·  Advising  ·  Mental-health referral when needed</a:t>
            </a:r>
          </a:p>
        </p:txBody>
      </p:sp>
      <p:sp>
        <p:nvSpPr>
          <p:cNvPr id="20" name="TextBox 19"/>
          <p:cNvSpPr txBox="1"/>
          <p:nvPr/>
        </p:nvSpPr>
        <p:spPr>
          <a:xfrm>
            <a:off x="667512" y="4032504"/>
            <a:ext cx="1874519" cy="576072"/>
          </a:xfrm>
          <a:prstGeom prst="rect">
            <a:avLst/>
          </a:prstGeom>
          <a:noFill/>
        </p:spPr>
        <p:txBody>
          <a:bodyPr wrap="square" lIns="0" rIns="0" tIns="0" bIns="0" anchor="t">
            <a:spAutoFit/>
          </a:bodyPr>
          <a:lstStyle/>
          <a:p>
            <a:pPr algn="l">
              <a:lnSpc>
                <a:spcPct val="108000"/>
              </a:lnSpc>
              <a:spcBef>
                <a:spcPts val="0"/>
              </a:spcBef>
              <a:spcAft>
                <a:spcPts val="0"/>
              </a:spcAft>
              <a:defRPr sz="3200" b="1">
                <a:solidFill>
                  <a:srgbClr val="6058E8"/>
                </a:solidFill>
                <a:latin typeface="Inter"/>
              </a:defRPr>
            </a:pPr>
            <a:r>
              <a:t>1,980</a:t>
            </a:r>
          </a:p>
        </p:txBody>
      </p:sp>
      <p:sp>
        <p:nvSpPr>
          <p:cNvPr id="21" name="TextBox 20"/>
          <p:cNvSpPr txBox="1"/>
          <p:nvPr/>
        </p:nvSpPr>
        <p:spPr>
          <a:xfrm>
            <a:off x="2551176" y="4105656"/>
            <a:ext cx="4818888" cy="484632"/>
          </a:xfrm>
          <a:prstGeom prst="rect">
            <a:avLst/>
          </a:prstGeom>
          <a:noFill/>
        </p:spPr>
        <p:txBody>
          <a:bodyPr wrap="square" lIns="0" rIns="0" tIns="0" bIns="0" anchor="t">
            <a:spAutoFit/>
          </a:bodyPr>
          <a:lstStyle/>
          <a:p>
            <a:pPr algn="l">
              <a:lnSpc>
                <a:spcPct val="108000"/>
              </a:lnSpc>
              <a:spcBef>
                <a:spcPts val="0"/>
              </a:spcBef>
              <a:spcAft>
                <a:spcPts val="0"/>
              </a:spcAft>
              <a:defRPr sz="1900" b="0">
                <a:solidFill>
                  <a:srgbClr val="18212F"/>
                </a:solidFill>
                <a:latin typeface="Inter"/>
              </a:defRPr>
            </a:pPr>
            <a:r>
              <a:t>students with disabilities</a:t>
            </a:r>
          </a:p>
        </p:txBody>
      </p:sp>
      <p:sp>
        <p:nvSpPr>
          <p:cNvPr id="22" name="TextBox 21"/>
          <p:cNvSpPr txBox="1"/>
          <p:nvPr/>
        </p:nvSpPr>
        <p:spPr>
          <a:xfrm>
            <a:off x="667512" y="4727448"/>
            <a:ext cx="6949440" cy="658368"/>
          </a:xfrm>
          <a:prstGeom prst="rect">
            <a:avLst/>
          </a:prstGeom>
          <a:noFill/>
        </p:spPr>
        <p:txBody>
          <a:bodyPr wrap="square" lIns="0" rIns="0" tIns="0" bIns="0" anchor="t">
            <a:spAutoFit/>
          </a:bodyPr>
          <a:lstStyle/>
          <a:p>
            <a:pPr algn="l">
              <a:lnSpc>
                <a:spcPct val="108000"/>
              </a:lnSpc>
              <a:spcBef>
                <a:spcPts val="0"/>
              </a:spcBef>
              <a:spcAft>
                <a:spcPts val="0"/>
              </a:spcAft>
              <a:defRPr sz="1900" b="1">
                <a:solidFill>
                  <a:srgbClr val="18212F"/>
                </a:solidFill>
                <a:latin typeface="Inter"/>
              </a:defRPr>
            </a:pPr>
            <a:r>
              <a:t>Earlier, sustained accommodation use</a:t>
            </a:r>
          </a:p>
          <a:p>
            <a:pPr algn="l">
              <a:lnSpc>
                <a:spcPct val="108000"/>
              </a:lnSpc>
              <a:spcBef>
                <a:spcPts val="0"/>
              </a:spcBef>
              <a:spcAft>
                <a:spcPts val="0"/>
              </a:spcAft>
              <a:defRPr sz="1900" b="1">
                <a:solidFill>
                  <a:srgbClr val="18212F"/>
                </a:solidFill>
                <a:latin typeface="Inter"/>
              </a:defRPr>
            </a:pPr>
            <a:r>
              <a:t>was associated with better outcomes.</a:t>
            </a:r>
          </a:p>
        </p:txBody>
      </p:sp>
      <p:sp>
        <p:nvSpPr>
          <p:cNvPr id="23" name="TextBox 22"/>
          <p:cNvSpPr txBox="1"/>
          <p:nvPr/>
        </p:nvSpPr>
        <p:spPr>
          <a:xfrm>
            <a:off x="667512" y="5559552"/>
            <a:ext cx="6940296" cy="393192"/>
          </a:xfrm>
          <a:prstGeom prst="rect">
            <a:avLst/>
          </a:prstGeom>
          <a:noFill/>
        </p:spPr>
        <p:txBody>
          <a:bodyPr wrap="square" lIns="0" rIns="0" tIns="0" bIns="0" anchor="t">
            <a:spAutoFit/>
          </a:bodyPr>
          <a:lstStyle/>
          <a:p>
            <a:pPr algn="l">
              <a:lnSpc>
                <a:spcPct val="108000"/>
              </a:lnSpc>
              <a:spcBef>
                <a:spcPts val="0"/>
              </a:spcBef>
              <a:spcAft>
                <a:spcPts val="0"/>
              </a:spcAft>
              <a:defRPr sz="1600" b="0">
                <a:solidFill>
                  <a:srgbClr val="596373"/>
                </a:solidFill>
                <a:latin typeface="Inter"/>
              </a:defRPr>
            </a:pPr>
            <a:r>
              <a:t>Broad disability sample; observational evidence.</a:t>
            </a:r>
          </a:p>
        </p:txBody>
      </p:sp>
      <p:sp>
        <p:nvSpPr>
          <p:cNvPr id="24" name="Rounded Rectangle 23"/>
          <p:cNvSpPr/>
          <p:nvPr/>
        </p:nvSpPr>
        <p:spPr>
          <a:xfrm>
            <a:off x="8302752" y="3968496"/>
            <a:ext cx="3273552" cy="868680"/>
          </a:xfrm>
          <a:prstGeom prst="roundRect">
            <a:avLst>
              <a:gd name="adj" fmla="val 12000"/>
            </a:avLst>
          </a:prstGeom>
          <a:solidFill>
            <a:srgbClr val="FFFFFF"/>
          </a:solidFill>
          <a:ln w="11430">
            <a:solidFill>
              <a:srgbClr val="DCDD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485632" y="4078224"/>
            <a:ext cx="2834640" cy="182880"/>
          </a:xfrm>
          <a:prstGeom prst="rect">
            <a:avLst/>
          </a:prstGeom>
          <a:noFill/>
        </p:spPr>
        <p:txBody>
          <a:bodyPr wrap="square" lIns="0" rIns="0" tIns="0" bIns="0" anchor="t">
            <a:spAutoFit/>
          </a:bodyPr>
          <a:lstStyle/>
          <a:p>
            <a:pPr algn="l">
              <a:lnSpc>
                <a:spcPct val="108000"/>
              </a:lnSpc>
              <a:spcBef>
                <a:spcPts val="0"/>
              </a:spcBef>
              <a:spcAft>
                <a:spcPts val="0"/>
              </a:spcAft>
              <a:defRPr sz="1050" b="1">
                <a:solidFill>
                  <a:srgbClr val="6058E8"/>
                </a:solidFill>
                <a:latin typeface="Inter"/>
              </a:defRPr>
            </a:pPr>
            <a:r>
              <a:t>STRENGTH</a:t>
            </a:r>
          </a:p>
        </p:txBody>
      </p:sp>
      <p:sp>
        <p:nvSpPr>
          <p:cNvPr id="26" name="TextBox 25"/>
          <p:cNvSpPr txBox="1"/>
          <p:nvPr/>
        </p:nvSpPr>
        <p:spPr>
          <a:xfrm>
            <a:off x="8485632" y="4361688"/>
            <a:ext cx="2880360" cy="374904"/>
          </a:xfrm>
          <a:prstGeom prst="rect">
            <a:avLst/>
          </a:prstGeom>
          <a:noFill/>
        </p:spPr>
        <p:txBody>
          <a:bodyPr wrap="square" lIns="0" rIns="0" tIns="0" bIns="0" anchor="t">
            <a:spAutoFit/>
          </a:bodyPr>
          <a:lstStyle/>
          <a:p>
            <a:pPr algn="l">
              <a:lnSpc>
                <a:spcPct val="108000"/>
              </a:lnSpc>
              <a:spcBef>
                <a:spcPts val="0"/>
              </a:spcBef>
              <a:spcAft>
                <a:spcPts val="0"/>
              </a:spcAft>
              <a:defRPr sz="1800" b="0">
                <a:solidFill>
                  <a:srgbClr val="18212F"/>
                </a:solidFill>
                <a:latin typeface="Inter"/>
              </a:defRPr>
            </a:pPr>
            <a:r>
              <a:t>Access + continuity</a:t>
            </a:r>
          </a:p>
        </p:txBody>
      </p:sp>
      <p:sp>
        <p:nvSpPr>
          <p:cNvPr id="27" name="Rounded Rectangle 26"/>
          <p:cNvSpPr/>
          <p:nvPr/>
        </p:nvSpPr>
        <p:spPr>
          <a:xfrm>
            <a:off x="8302752" y="5001768"/>
            <a:ext cx="3273552" cy="868680"/>
          </a:xfrm>
          <a:prstGeom prst="roundRect">
            <a:avLst>
              <a:gd name="adj" fmla="val 12000"/>
            </a:avLst>
          </a:prstGeom>
          <a:solidFill>
            <a:srgbClr val="FFFFFF"/>
          </a:solidFill>
          <a:ln w="11430">
            <a:solidFill>
              <a:srgbClr val="DCDD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485632" y="5111496"/>
            <a:ext cx="2834640" cy="182880"/>
          </a:xfrm>
          <a:prstGeom prst="rect">
            <a:avLst/>
          </a:prstGeom>
          <a:noFill/>
        </p:spPr>
        <p:txBody>
          <a:bodyPr wrap="square" lIns="0" rIns="0" tIns="0" bIns="0" anchor="t">
            <a:spAutoFit/>
          </a:bodyPr>
          <a:lstStyle/>
          <a:p>
            <a:pPr algn="l">
              <a:lnSpc>
                <a:spcPct val="108000"/>
              </a:lnSpc>
              <a:spcBef>
                <a:spcPts val="0"/>
              </a:spcBef>
              <a:spcAft>
                <a:spcPts val="0"/>
              </a:spcAft>
              <a:defRPr sz="1050" b="1">
                <a:solidFill>
                  <a:srgbClr val="6058E8"/>
                </a:solidFill>
                <a:latin typeface="Inter"/>
              </a:defRPr>
            </a:pPr>
            <a:r>
              <a:t>LIMITATION</a:t>
            </a:r>
          </a:p>
        </p:txBody>
      </p:sp>
      <p:sp>
        <p:nvSpPr>
          <p:cNvPr id="29" name="TextBox 28"/>
          <p:cNvSpPr txBox="1"/>
          <p:nvPr/>
        </p:nvSpPr>
        <p:spPr>
          <a:xfrm>
            <a:off x="8485632" y="5394960"/>
            <a:ext cx="2880360" cy="374904"/>
          </a:xfrm>
          <a:prstGeom prst="rect">
            <a:avLst/>
          </a:prstGeom>
          <a:noFill/>
        </p:spPr>
        <p:txBody>
          <a:bodyPr wrap="square" lIns="0" rIns="0" tIns="0" bIns="0" anchor="t">
            <a:spAutoFit/>
          </a:bodyPr>
          <a:lstStyle/>
          <a:p>
            <a:pPr algn="l">
              <a:lnSpc>
                <a:spcPct val="108000"/>
              </a:lnSpc>
              <a:spcBef>
                <a:spcPts val="0"/>
              </a:spcBef>
              <a:spcAft>
                <a:spcPts val="0"/>
              </a:spcAft>
              <a:defRPr sz="1750" b="0">
                <a:solidFill>
                  <a:srgbClr val="18212F"/>
                </a:solidFill>
                <a:latin typeface="Inter"/>
              </a:defRPr>
            </a:pPr>
            <a:r>
              <a:t>Coordination across services</a:t>
            </a:r>
          </a:p>
        </p:txBody>
      </p:sp>
      <p:sp>
        <p:nvSpPr>
          <p:cNvPr id="30" name="TextBox 29"/>
          <p:cNvSpPr txBox="1"/>
          <p:nvPr/>
        </p:nvSpPr>
        <p:spPr>
          <a:xfrm>
            <a:off x="594360" y="6382512"/>
            <a:ext cx="10652760" cy="228600"/>
          </a:xfrm>
          <a:prstGeom prst="rect">
            <a:avLst/>
          </a:prstGeom>
          <a:noFill/>
        </p:spPr>
        <p:txBody>
          <a:bodyPr wrap="square" lIns="0" rIns="0" tIns="0" bIns="0" anchor="t">
            <a:spAutoFit/>
          </a:bodyPr>
          <a:lstStyle/>
          <a:p>
            <a:pPr algn="l">
              <a:lnSpc>
                <a:spcPct val="108000"/>
              </a:lnSpc>
              <a:spcBef>
                <a:spcPts val="0"/>
              </a:spcBef>
              <a:spcAft>
                <a:spcPts val="0"/>
              </a:spcAft>
              <a:defRPr sz="1050" b="0">
                <a:solidFill>
                  <a:srgbClr val="596373"/>
                </a:solidFill>
                <a:latin typeface="Inter"/>
              </a:defRPr>
            </a:pPr>
            <a:r>
              <a:t>(Álvarez-Godos et al., 2023; Blasey et al., 2023; Römhild &amp; Hollederer, 2024)</a:t>
            </a:r>
          </a:p>
        </p:txBody>
      </p:sp>
      <p:sp>
        <p:nvSpPr>
          <p:cNvPr id="31" name="TextBox 30"/>
          <p:cNvSpPr txBox="1"/>
          <p:nvPr/>
        </p:nvSpPr>
        <p:spPr>
          <a:xfrm>
            <a:off x="11192256" y="6373368"/>
            <a:ext cx="393192" cy="274320"/>
          </a:xfrm>
          <a:prstGeom prst="rect">
            <a:avLst/>
          </a:prstGeom>
          <a:noFill/>
        </p:spPr>
        <p:txBody>
          <a:bodyPr wrap="square" lIns="0" rIns="0" tIns="0" bIns="0" anchor="t">
            <a:spAutoFit/>
          </a:bodyPr>
          <a:lstStyle/>
          <a:p>
            <a:pPr algn="r">
              <a:lnSpc>
                <a:spcPct val="108000"/>
              </a:lnSpc>
              <a:spcBef>
                <a:spcPts val="0"/>
              </a:spcBef>
              <a:spcAft>
                <a:spcPts val="0"/>
              </a:spcAft>
              <a:defRPr sz="1100" b="0">
                <a:solidFill>
                  <a:srgbClr val="596373"/>
                </a:solidFill>
                <a:latin typeface="Inter"/>
              </a:defRPr>
            </a:pPr>
            <a:r>
              <a:t>04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393192"/>
            <a:ext cx="10972800" cy="274320"/>
          </a:xfrm>
          <a:prstGeom prst="rect">
            <a:avLst/>
          </a:prstGeom>
          <a:noFill/>
        </p:spPr>
        <p:txBody>
          <a:bodyPr wrap="square" lIns="0" rIns="0" tIns="0" bIns="0" anchor="t">
            <a:spAutoFit/>
          </a:bodyPr>
          <a:lstStyle/>
          <a:p>
            <a:pPr algn="l">
              <a:lnSpc>
                <a:spcPct val="108000"/>
              </a:lnSpc>
              <a:spcBef>
                <a:spcPts val="0"/>
              </a:spcBef>
              <a:spcAft>
                <a:spcPts val="0"/>
              </a:spcAft>
              <a:defRPr sz="1100" b="1">
                <a:solidFill>
                  <a:srgbClr val="6058E8"/>
                </a:solidFill>
                <a:latin typeface="Inter"/>
              </a:defRPr>
            </a:pPr>
            <a:r>
              <a:t>SOURCE LIST / APA 7</a:t>
            </a:r>
          </a:p>
        </p:txBody>
      </p:sp>
      <p:sp>
        <p:nvSpPr>
          <p:cNvPr id="3" name="TextBox 2"/>
          <p:cNvSpPr txBox="1"/>
          <p:nvPr/>
        </p:nvSpPr>
        <p:spPr>
          <a:xfrm>
            <a:off x="594360" y="804672"/>
            <a:ext cx="10972800" cy="576072"/>
          </a:xfrm>
          <a:prstGeom prst="rect">
            <a:avLst/>
          </a:prstGeom>
          <a:noFill/>
        </p:spPr>
        <p:txBody>
          <a:bodyPr wrap="square" lIns="0" rIns="0" tIns="0" bIns="0" anchor="t">
            <a:spAutoFit/>
          </a:bodyPr>
          <a:lstStyle/>
          <a:p>
            <a:pPr algn="l">
              <a:lnSpc>
                <a:spcPct val="108000"/>
              </a:lnSpc>
              <a:spcBef>
                <a:spcPts val="0"/>
              </a:spcBef>
              <a:spcAft>
                <a:spcPts val="0"/>
              </a:spcAft>
              <a:defRPr sz="3200" b="1">
                <a:solidFill>
                  <a:srgbClr val="18212F"/>
                </a:solidFill>
                <a:latin typeface="Inter"/>
              </a:defRPr>
            </a:pPr>
            <a:r>
              <a:t>References</a:t>
            </a:r>
          </a:p>
        </p:txBody>
      </p:sp>
      <p:sp>
        <p:nvSpPr>
          <p:cNvPr id="4" name="TextBox 3"/>
          <p:cNvSpPr txBox="1"/>
          <p:nvPr/>
        </p:nvSpPr>
        <p:spPr>
          <a:xfrm>
            <a:off x="621792" y="1673352"/>
            <a:ext cx="5385816" cy="1005840"/>
          </a:xfrm>
          <a:prstGeom prst="rect">
            <a:avLst/>
          </a:prstGeom>
          <a:noFill/>
        </p:spPr>
        <p:txBody>
          <a:bodyPr wrap="square" lIns="0" rIns="0" tIns="0" bIns="0">
            <a:spAutoFit/>
          </a:bodyPr>
          <a:lstStyle/>
          <a:p>
            <a:pPr marL="164592" indent="-164592">
              <a:lnSpc>
                <a:spcPct val="112000"/>
              </a:lnSpc>
              <a:spcAft>
                <a:spcPts val="0"/>
              </a:spcAft>
            </a:pPr>
            <a:r>
              <a:rPr sz="1200" i="0">
                <a:solidFill>
                  <a:srgbClr val="18212F"/>
                </a:solidFill>
                <a:latin typeface="Inter"/>
              </a:rPr>
              <a:t>Álvarez-Godos, M., Ferreira, C., &amp; Vieira, M.-J. (2023). </a:t>
            </a:r>
            <a:r>
              <a:rPr sz="1200" i="0">
                <a:solidFill>
                  <a:srgbClr val="18212F"/>
                </a:solidFill>
                <a:latin typeface="Inter"/>
              </a:rPr>
              <a:t>A systematic review of actions aimed at university students with ADHD. </a:t>
            </a:r>
            <a:r>
              <a:rPr sz="1200" i="1">
                <a:solidFill>
                  <a:srgbClr val="18212F"/>
                </a:solidFill>
                <a:latin typeface="Inter"/>
              </a:rPr>
              <a:t>Frontiers in Psychology, 14</a:t>
            </a:r>
            <a:r>
              <a:rPr sz="1200" i="0">
                <a:solidFill>
                  <a:srgbClr val="18212F"/>
                </a:solidFill>
                <a:latin typeface="Inter"/>
              </a:rPr>
              <a:t>, Article 1216692.</a:t>
            </a:r>
          </a:p>
          <a:p>
            <a:pPr marL="164592">
              <a:lnSpc>
                <a:spcPct val="100000"/>
              </a:lnSpc>
              <a:spcBef>
                <a:spcPts val="300"/>
              </a:spcBef>
            </a:pPr>
            <a:r>
              <a:rPr sz="1070">
                <a:solidFill>
                  <a:srgbClr val="6058E8"/>
                </a:solidFill>
                <a:latin typeface="Inter"/>
                <a:hlinkClick r:id="rId2"/>
              </a:rPr>
              <a:t>https://doi.org/10.3389/fpsyg.2023.1216692</a:t>
            </a:r>
          </a:p>
        </p:txBody>
      </p:sp>
      <p:sp>
        <p:nvSpPr>
          <p:cNvPr id="5" name="TextBox 4"/>
          <p:cNvSpPr txBox="1"/>
          <p:nvPr/>
        </p:nvSpPr>
        <p:spPr>
          <a:xfrm>
            <a:off x="621792" y="2679192"/>
            <a:ext cx="5385816" cy="1124712"/>
          </a:xfrm>
          <a:prstGeom prst="rect">
            <a:avLst/>
          </a:prstGeom>
          <a:noFill/>
        </p:spPr>
        <p:txBody>
          <a:bodyPr wrap="square" lIns="0" rIns="0" tIns="0" bIns="0">
            <a:spAutoFit/>
          </a:bodyPr>
          <a:lstStyle/>
          <a:p>
            <a:pPr marL="164592" indent="-164592">
              <a:lnSpc>
                <a:spcPct val="112000"/>
              </a:lnSpc>
              <a:spcAft>
                <a:spcPts val="0"/>
              </a:spcAft>
            </a:pPr>
            <a:r>
              <a:rPr sz="1200" i="0">
                <a:solidFill>
                  <a:srgbClr val="18212F"/>
                </a:solidFill>
                <a:latin typeface="Inter"/>
              </a:rPr>
              <a:t>Anastopoulos, A. D., Langberg, J. M., Eddy, L. D., Silvia, P. J., &amp; Labban, J. D. (2021). </a:t>
            </a:r>
            <a:r>
              <a:rPr sz="1200" i="0">
                <a:solidFill>
                  <a:srgbClr val="18212F"/>
                </a:solidFill>
                <a:latin typeface="Inter"/>
              </a:rPr>
              <a:t>A randomized controlled trial examining CBT for college students with ADHD. </a:t>
            </a:r>
            <a:r>
              <a:rPr sz="1200" i="1">
                <a:solidFill>
                  <a:srgbClr val="18212F"/>
                </a:solidFill>
                <a:latin typeface="Inter"/>
              </a:rPr>
              <a:t>Journal of Consulting and Clinical Psychology, 89</a:t>
            </a:r>
            <a:r>
              <a:rPr sz="1200" i="0">
                <a:solidFill>
                  <a:srgbClr val="18212F"/>
                </a:solidFill>
                <a:latin typeface="Inter"/>
              </a:rPr>
              <a:t>(1), 21–33.</a:t>
            </a:r>
          </a:p>
          <a:p>
            <a:pPr marL="164592">
              <a:lnSpc>
                <a:spcPct val="100000"/>
              </a:lnSpc>
              <a:spcBef>
                <a:spcPts val="300"/>
              </a:spcBef>
            </a:pPr>
            <a:r>
              <a:rPr sz="1070">
                <a:solidFill>
                  <a:srgbClr val="6058E8"/>
                </a:solidFill>
                <a:latin typeface="Inter"/>
                <a:hlinkClick r:id="rId3"/>
              </a:rPr>
              <a:t>https://doi.org/10.1037/ccp0000553</a:t>
            </a:r>
          </a:p>
        </p:txBody>
      </p:sp>
      <p:sp>
        <p:nvSpPr>
          <p:cNvPr id="6" name="TextBox 5"/>
          <p:cNvSpPr txBox="1"/>
          <p:nvPr/>
        </p:nvSpPr>
        <p:spPr>
          <a:xfrm>
            <a:off x="621792" y="3849624"/>
            <a:ext cx="5385816" cy="1005840"/>
          </a:xfrm>
          <a:prstGeom prst="rect">
            <a:avLst/>
          </a:prstGeom>
          <a:noFill/>
        </p:spPr>
        <p:txBody>
          <a:bodyPr wrap="square" lIns="0" rIns="0" tIns="0" bIns="0">
            <a:spAutoFit/>
          </a:bodyPr>
          <a:lstStyle/>
          <a:p>
            <a:pPr marL="164592" indent="-164592">
              <a:lnSpc>
                <a:spcPct val="112000"/>
              </a:lnSpc>
              <a:spcAft>
                <a:spcPts val="0"/>
              </a:spcAft>
            </a:pPr>
            <a:r>
              <a:rPr sz="1200" i="0">
                <a:solidFill>
                  <a:srgbClr val="18212F"/>
                </a:solidFill>
                <a:latin typeface="Inter"/>
              </a:rPr>
              <a:t>Blasey, J., Wang, C., &amp; Blasey, R. (2023). </a:t>
            </a:r>
            <a:r>
              <a:rPr sz="1200" i="0">
                <a:solidFill>
                  <a:srgbClr val="18212F"/>
                </a:solidFill>
                <a:latin typeface="Inter"/>
              </a:rPr>
              <a:t>Accommodation use and academic outcomes for college students with disabilities. </a:t>
            </a:r>
            <a:r>
              <a:rPr sz="1200" i="1">
                <a:solidFill>
                  <a:srgbClr val="18212F"/>
                </a:solidFill>
                <a:latin typeface="Inter"/>
              </a:rPr>
              <a:t>Psychological Reports, 126</a:t>
            </a:r>
            <a:r>
              <a:rPr sz="1200" i="0">
                <a:solidFill>
                  <a:srgbClr val="18212F"/>
                </a:solidFill>
                <a:latin typeface="Inter"/>
              </a:rPr>
              <a:t>(4), 1891–1909.</a:t>
            </a:r>
          </a:p>
          <a:p>
            <a:pPr marL="164592">
              <a:lnSpc>
                <a:spcPct val="100000"/>
              </a:lnSpc>
              <a:spcBef>
                <a:spcPts val="300"/>
              </a:spcBef>
            </a:pPr>
            <a:r>
              <a:rPr sz="1070">
                <a:solidFill>
                  <a:srgbClr val="6058E8"/>
                </a:solidFill>
                <a:latin typeface="Inter"/>
                <a:hlinkClick r:id="rId4"/>
              </a:rPr>
              <a:t>https://doi.org/10.1177/00332941221078011</a:t>
            </a:r>
          </a:p>
        </p:txBody>
      </p:sp>
      <p:sp>
        <p:nvSpPr>
          <p:cNvPr id="7" name="TextBox 6"/>
          <p:cNvSpPr txBox="1"/>
          <p:nvPr/>
        </p:nvSpPr>
        <p:spPr>
          <a:xfrm>
            <a:off x="621792" y="4873752"/>
            <a:ext cx="5385816" cy="1124712"/>
          </a:xfrm>
          <a:prstGeom prst="rect">
            <a:avLst/>
          </a:prstGeom>
          <a:noFill/>
        </p:spPr>
        <p:txBody>
          <a:bodyPr wrap="square" lIns="0" rIns="0" tIns="0" bIns="0">
            <a:spAutoFit/>
          </a:bodyPr>
          <a:lstStyle/>
          <a:p>
            <a:pPr marL="164592" indent="-164592">
              <a:lnSpc>
                <a:spcPct val="112000"/>
              </a:lnSpc>
              <a:spcAft>
                <a:spcPts val="0"/>
              </a:spcAft>
            </a:pPr>
            <a:r>
              <a:rPr sz="1200" i="0">
                <a:solidFill>
                  <a:srgbClr val="18212F"/>
                </a:solidFill>
                <a:latin typeface="Inter"/>
              </a:rPr>
              <a:t>DuPaul, G. J., Dahlstrom-Hakki, I., Gormley, M. J., Fu, Q., Pinho, T. D., &amp; Banerjee, M. (2017). </a:t>
            </a:r>
            <a:r>
              <a:rPr sz="1200" i="0">
                <a:solidFill>
                  <a:srgbClr val="18212F"/>
                </a:solidFill>
                <a:latin typeface="Inter"/>
              </a:rPr>
              <a:t>College students with ADHD and LD: Effects of support services on academic performance. </a:t>
            </a:r>
            <a:r>
              <a:rPr sz="1200" i="1">
                <a:solidFill>
                  <a:srgbClr val="18212F"/>
                </a:solidFill>
                <a:latin typeface="Inter"/>
              </a:rPr>
              <a:t>Learning Disabilities Research &amp; Practice, 32</a:t>
            </a:r>
            <a:r>
              <a:rPr sz="1200" i="0">
                <a:solidFill>
                  <a:srgbClr val="18212F"/>
                </a:solidFill>
                <a:latin typeface="Inter"/>
              </a:rPr>
              <a:t>(4), 246–256.</a:t>
            </a:r>
          </a:p>
          <a:p>
            <a:pPr marL="164592">
              <a:lnSpc>
                <a:spcPct val="100000"/>
              </a:lnSpc>
              <a:spcBef>
                <a:spcPts val="300"/>
              </a:spcBef>
            </a:pPr>
            <a:r>
              <a:rPr sz="1070">
                <a:solidFill>
                  <a:srgbClr val="6058E8"/>
                </a:solidFill>
                <a:latin typeface="Inter"/>
                <a:hlinkClick r:id="rId5"/>
              </a:rPr>
              <a:t>https://doi.org/10.1111/ldrp.12143</a:t>
            </a:r>
          </a:p>
        </p:txBody>
      </p:sp>
      <p:sp>
        <p:nvSpPr>
          <p:cNvPr id="8" name="TextBox 7"/>
          <p:cNvSpPr txBox="1"/>
          <p:nvPr/>
        </p:nvSpPr>
        <p:spPr>
          <a:xfrm>
            <a:off x="6355080" y="1673352"/>
            <a:ext cx="5202936" cy="1152144"/>
          </a:xfrm>
          <a:prstGeom prst="rect">
            <a:avLst/>
          </a:prstGeom>
          <a:noFill/>
        </p:spPr>
        <p:txBody>
          <a:bodyPr wrap="square" lIns="0" rIns="0" tIns="0" bIns="0">
            <a:spAutoFit/>
          </a:bodyPr>
          <a:lstStyle/>
          <a:p>
            <a:pPr marL="164592" indent="-164592">
              <a:lnSpc>
                <a:spcPct val="112000"/>
              </a:lnSpc>
              <a:spcAft>
                <a:spcPts val="0"/>
              </a:spcAft>
            </a:pPr>
            <a:r>
              <a:rPr sz="1200" i="0">
                <a:solidFill>
                  <a:srgbClr val="18212F"/>
                </a:solidFill>
                <a:latin typeface="Inter"/>
              </a:rPr>
              <a:t>Gormley, M. J., DuPaul, G. J., Weyandt, L. L., &amp; Anastopoulos, A. D. (2019). </a:t>
            </a:r>
            <a:r>
              <a:rPr sz="1200" i="0">
                <a:solidFill>
                  <a:srgbClr val="18212F"/>
                </a:solidFill>
                <a:latin typeface="Inter"/>
              </a:rPr>
              <a:t>First-year GPA and academic service use among college students with and without ADHD. </a:t>
            </a:r>
            <a:r>
              <a:rPr sz="1200" i="1">
                <a:solidFill>
                  <a:srgbClr val="18212F"/>
                </a:solidFill>
                <a:latin typeface="Inter"/>
              </a:rPr>
              <a:t>Journal of Attention Disorders, 23</a:t>
            </a:r>
            <a:r>
              <a:rPr sz="1200" i="0">
                <a:solidFill>
                  <a:srgbClr val="18212F"/>
                </a:solidFill>
                <a:latin typeface="Inter"/>
              </a:rPr>
              <a:t>(14), 1766–1779.</a:t>
            </a:r>
          </a:p>
          <a:p>
            <a:pPr marL="164592">
              <a:lnSpc>
                <a:spcPct val="100000"/>
              </a:lnSpc>
              <a:spcBef>
                <a:spcPts val="300"/>
              </a:spcBef>
            </a:pPr>
            <a:r>
              <a:rPr sz="1070">
                <a:solidFill>
                  <a:srgbClr val="6058E8"/>
                </a:solidFill>
                <a:latin typeface="Inter"/>
                <a:hlinkClick r:id="rId6"/>
              </a:rPr>
              <a:t>https://doi.org/10.1177/1087054715623046</a:t>
            </a:r>
          </a:p>
        </p:txBody>
      </p:sp>
      <p:sp>
        <p:nvSpPr>
          <p:cNvPr id="9" name="TextBox 8"/>
          <p:cNvSpPr txBox="1"/>
          <p:nvPr/>
        </p:nvSpPr>
        <p:spPr>
          <a:xfrm>
            <a:off x="6355080" y="2871216"/>
            <a:ext cx="5202936" cy="1152144"/>
          </a:xfrm>
          <a:prstGeom prst="rect">
            <a:avLst/>
          </a:prstGeom>
          <a:noFill/>
        </p:spPr>
        <p:txBody>
          <a:bodyPr wrap="square" lIns="0" rIns="0" tIns="0" bIns="0">
            <a:spAutoFit/>
          </a:bodyPr>
          <a:lstStyle/>
          <a:p>
            <a:pPr marL="164592" indent="-164592">
              <a:lnSpc>
                <a:spcPct val="112000"/>
              </a:lnSpc>
              <a:spcAft>
                <a:spcPts val="0"/>
              </a:spcAft>
            </a:pPr>
            <a:r>
              <a:rPr sz="1200" i="0">
                <a:solidFill>
                  <a:srgbClr val="18212F"/>
                </a:solidFill>
                <a:latin typeface="Inter"/>
              </a:rPr>
              <a:t>Nazarbayev University. (n.d.). </a:t>
            </a:r>
            <a:r>
              <a:rPr sz="1200" i="1">
                <a:solidFill>
                  <a:srgbClr val="18212F"/>
                </a:solidFill>
                <a:latin typeface="Inter"/>
              </a:rPr>
              <a:t>Disability &amp; learning needs. </a:t>
            </a:r>
          </a:p>
          <a:p>
            <a:pPr marL="164592">
              <a:lnSpc>
                <a:spcPct val="100000"/>
              </a:lnSpc>
              <a:spcBef>
                <a:spcPts val="300"/>
              </a:spcBef>
            </a:pPr>
            <a:r>
              <a:rPr sz="1070">
                <a:solidFill>
                  <a:srgbClr val="6058E8"/>
                </a:solidFill>
                <a:latin typeface="Inter"/>
                <a:hlinkClick r:id="rId7"/>
              </a:rPr>
              <a:t>https://nu.edu.kz/students/disability-and-special-learning-needs-support/</a:t>
            </a:r>
          </a:p>
        </p:txBody>
      </p:sp>
      <p:sp>
        <p:nvSpPr>
          <p:cNvPr id="10" name="TextBox 9"/>
          <p:cNvSpPr txBox="1"/>
          <p:nvPr/>
        </p:nvSpPr>
        <p:spPr>
          <a:xfrm>
            <a:off x="6355080" y="3785615"/>
            <a:ext cx="5202936" cy="1280160"/>
          </a:xfrm>
          <a:prstGeom prst="rect">
            <a:avLst/>
          </a:prstGeom>
          <a:noFill/>
        </p:spPr>
        <p:txBody>
          <a:bodyPr wrap="square" lIns="0" rIns="0" tIns="0" bIns="0">
            <a:spAutoFit/>
          </a:bodyPr>
          <a:lstStyle/>
          <a:p>
            <a:pPr marL="164592" indent="-164592">
              <a:lnSpc>
                <a:spcPct val="112000"/>
              </a:lnSpc>
              <a:spcAft>
                <a:spcPts val="0"/>
              </a:spcAft>
            </a:pPr>
            <a:r>
              <a:rPr sz="1200" i="0">
                <a:solidFill>
                  <a:srgbClr val="18212F"/>
                </a:solidFill>
                <a:latin typeface="Inter"/>
              </a:rPr>
              <a:t>Römhild, A., &amp; Hollederer, A. (2024). </a:t>
            </a:r>
            <a:r>
              <a:rPr sz="1200" i="0">
                <a:solidFill>
                  <a:srgbClr val="18212F"/>
                </a:solidFill>
                <a:latin typeface="Inter"/>
              </a:rPr>
              <a:t>Effects of disability-related services, accommodations, and integration on academic success of students with disabilities in higher education: A scoping review. </a:t>
            </a:r>
            <a:r>
              <a:rPr sz="1200" i="1">
                <a:solidFill>
                  <a:srgbClr val="18212F"/>
                </a:solidFill>
                <a:latin typeface="Inter"/>
              </a:rPr>
              <a:t>European Journal of Special Needs Education, 39</a:t>
            </a:r>
            <a:r>
              <a:rPr sz="1200" i="0">
                <a:solidFill>
                  <a:srgbClr val="18212F"/>
                </a:solidFill>
                <a:latin typeface="Inter"/>
              </a:rPr>
              <a:t>(1), 143–166.</a:t>
            </a:r>
          </a:p>
          <a:p>
            <a:pPr marL="164592">
              <a:lnSpc>
                <a:spcPct val="100000"/>
              </a:lnSpc>
              <a:spcBef>
                <a:spcPts val="300"/>
              </a:spcBef>
            </a:pPr>
            <a:r>
              <a:rPr sz="1070">
                <a:solidFill>
                  <a:srgbClr val="6058E8"/>
                </a:solidFill>
                <a:latin typeface="Inter"/>
                <a:hlinkClick r:id="rId8"/>
              </a:rPr>
              <a:t>https://doi.org/10.1080/08856257.2023.2195074</a:t>
            </a:r>
          </a:p>
        </p:txBody>
      </p:sp>
      <p:sp>
        <p:nvSpPr>
          <p:cNvPr id="11" name="TextBox 10"/>
          <p:cNvSpPr txBox="1"/>
          <p:nvPr/>
        </p:nvSpPr>
        <p:spPr>
          <a:xfrm>
            <a:off x="6355080" y="5093208"/>
            <a:ext cx="5202936" cy="1280160"/>
          </a:xfrm>
          <a:prstGeom prst="rect">
            <a:avLst/>
          </a:prstGeom>
          <a:noFill/>
        </p:spPr>
        <p:txBody>
          <a:bodyPr wrap="square" lIns="0" rIns="0" tIns="0" bIns="0">
            <a:spAutoFit/>
          </a:bodyPr>
          <a:lstStyle/>
          <a:p>
            <a:pPr marL="164592" indent="-164592">
              <a:lnSpc>
                <a:spcPct val="112000"/>
              </a:lnSpc>
              <a:spcAft>
                <a:spcPts val="0"/>
              </a:spcAft>
            </a:pPr>
            <a:r>
              <a:rPr sz="1200" i="0">
                <a:solidFill>
                  <a:srgbClr val="18212F"/>
                </a:solidFill>
                <a:latin typeface="Inter"/>
              </a:rPr>
              <a:t>Ross, F., Dommett, E. J., &amp; Byrom, N. (2026). </a:t>
            </a:r>
            <a:r>
              <a:rPr sz="1200" i="0">
                <a:solidFill>
                  <a:srgbClr val="18212F"/>
                </a:solidFill>
                <a:latin typeface="Inter"/>
              </a:rPr>
              <a:t>A systematic review of higher education-based interventions to support the mental health and wellbeing of neurodivergent students. </a:t>
            </a:r>
            <a:r>
              <a:rPr sz="1200" i="1">
                <a:solidFill>
                  <a:srgbClr val="18212F"/>
                </a:solidFill>
                <a:latin typeface="Inter"/>
              </a:rPr>
              <a:t>npj Mental Health Research, 5</a:t>
            </a:r>
            <a:r>
              <a:rPr sz="1200" i="0">
                <a:solidFill>
                  <a:srgbClr val="18212F"/>
                </a:solidFill>
                <a:latin typeface="Inter"/>
              </a:rPr>
              <a:t>, Article 14.</a:t>
            </a:r>
          </a:p>
          <a:p>
            <a:pPr marL="164592">
              <a:lnSpc>
                <a:spcPct val="100000"/>
              </a:lnSpc>
              <a:spcBef>
                <a:spcPts val="300"/>
              </a:spcBef>
            </a:pPr>
            <a:r>
              <a:rPr sz="1070">
                <a:solidFill>
                  <a:srgbClr val="6058E8"/>
                </a:solidFill>
                <a:latin typeface="Inter"/>
                <a:hlinkClick r:id="rId9"/>
              </a:rPr>
              <a:t>https://doi.org/10.1038/s44184-026-00196-4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Supporting University Students with ADHD in Kazakhstan</dc:title>
  <dc:subject>Topic proposal: two possible academic-support approaches</dc:subject>
  <dc:creator/>
  <cp:keywords>ADHD, Kazakhstan, academic support, topic proposal</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